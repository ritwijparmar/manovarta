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ManoVarta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155448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Phase 1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800" b="1">
                <a:solidFill>
                  <a:srgbClr val="1C2D48"/>
                </a:solidFill>
                <a:latin typeface="Calibri"/>
              </a:defRPr>
            </a:pPr>
            <a:r>
              <a:t>Multilingual Conversational AI for Mental Health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57607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5B6D87"/>
                </a:solidFill>
                <a:latin typeface="Calibri"/>
              </a:defRPr>
            </a:pPr>
            <a:r>
              <a:t>English + Hindi | Text-first | Screening support for professionals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35808"/>
            <a:ext cx="2468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Conversation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10128"/>
            <a:ext cx="2468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Open-ended but bounded interaction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3520439" y="3337560"/>
            <a:ext cx="457200" cy="54864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292608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035808"/>
            <a:ext cx="2468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310128"/>
            <a:ext cx="2468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Traceable PHQ-9 and GAD-7 item support</a:t>
            </a:r>
          </a:p>
        </p:txBody>
      </p:sp>
      <p:sp>
        <p:nvSpPr>
          <p:cNvPr id="15" name="Chevron 14"/>
          <p:cNvSpPr/>
          <p:nvPr/>
        </p:nvSpPr>
        <p:spPr>
          <a:xfrm>
            <a:off x="6949440" y="3337560"/>
            <a:ext cx="457200" cy="54864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2926080"/>
            <a:ext cx="27432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3035808"/>
            <a:ext cx="2468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310128"/>
            <a:ext cx="246888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Clinician-facing scores, confidence, and safety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5B6D87"/>
                </a:solidFill>
                <a:latin typeface="Calibri"/>
              </a:defRPr>
            </a:pPr>
            <a:r>
              <a:t>Phase 1 goal: define the research problem, data plan, architecture, and evaluation strategy. Not a deployed clinical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Why This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05156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Direct form problem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conversation may help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survey fatigue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more natural disclosure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guarded answers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room for follow-up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rigid item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adaptive symptom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0" y="1188720"/>
            <a:ext cx="45720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298448"/>
            <a:ext cx="4297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Core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72768"/>
            <a:ext cx="429768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Mental health screening needs clinical structure, but users often describe symptoms in indirect, messy, multilingual ways.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611880"/>
            <a:ext cx="457200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222222"/>
                </a:solidFill>
                <a:latin typeface="Calibri"/>
              </a:defRPr>
            </a:pPr>
            <a:r>
              <a:t>Questionnaires are useful, but can feel impersonal.</a:t>
            </a:r>
          </a:p>
          <a:p>
            <a:pPr>
              <a:defRPr sz="1600">
                <a:solidFill>
                  <a:srgbClr val="222222"/>
                </a:solidFill>
                <a:latin typeface="Calibri"/>
              </a:defRPr>
            </a:pPr>
            <a:r>
              <a:t>Natural conversation may improve disclosure.</a:t>
            </a:r>
          </a:p>
          <a:p>
            <a:pPr>
              <a:defRPr sz="1600">
                <a:solidFill>
                  <a:srgbClr val="222222"/>
                </a:solidFill>
                <a:latin typeface="Calibri"/>
              </a:defRPr>
            </a:pPr>
            <a:r>
              <a:t>The challenge is preserving traceable item-level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Objective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430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scope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 of scope for Phase 1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English + Hindi text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voice 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PHQ-9 and GAD-7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therapy or diagnosis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item-level score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production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75120" y="1234440"/>
            <a:ext cx="44805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344168"/>
            <a:ext cx="4206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Main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618488"/>
            <a:ext cx="420624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Infer symptom evidence and questionnaire-aligned item scores from natural conversation while keeping human oversight in the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3657600"/>
            <a:ext cx="45720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5B6D87"/>
                </a:solidFill>
                <a:latin typeface="Calibri"/>
              </a:defRPr>
            </a:pPr>
            <a:r>
              <a:t>Phase 1 is a foundation milestone: proposal, data design, architecture, baselines, and evaluation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47088"/>
            <a:ext cx="30175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Can natural dialogue recover PHQ-9 and GAD-7 item scores?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6304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72768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47088"/>
            <a:ext cx="30175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Does confidence-based follow-up improve coverage?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2918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572768"/>
            <a:ext cx="30175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847088"/>
            <a:ext cx="30175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Is performance stable across English, Hindi, and Hinglish?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931920"/>
            <a:ext cx="84124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5960" y="4041648"/>
            <a:ext cx="81381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315968"/>
            <a:ext cx="81381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 modular bilingual screening setup with rapport-aware dialogue, evidence-first scoring, item confidence tracking, and a parallel safety module.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Example: Conversation to Structured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754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389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1C2D48"/>
                </a:solidFill>
                <a:latin typeface="Calibri"/>
              </a:defRPr>
            </a:pPr>
            <a:r>
              <a:t>User: "My sleep schedule is messed up and I can't focus on assignments."</a:t>
            </a:r>
          </a:p>
        </p:txBody>
      </p:sp>
      <p:sp>
        <p:nvSpPr>
          <p:cNvPr id="7" name="Chevron 6"/>
          <p:cNvSpPr/>
          <p:nvPr/>
        </p:nvSpPr>
        <p:spPr>
          <a:xfrm>
            <a:off x="5669280" y="1645920"/>
            <a:ext cx="640080" cy="54864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23444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6705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 span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sleep schedule is messed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PHQ-9 sleep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can't focus on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PHQ-9 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3886200"/>
            <a:ext cx="41148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995928"/>
            <a:ext cx="3840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Confidence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270248"/>
            <a:ext cx="3840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sleep: high</a:t>
            </a:r>
            <a:br/>
            <a:r>
              <a:t>concentration: medium-high</a:t>
            </a:r>
            <a:br/>
            <a:r>
              <a:t>low mood: unresolved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86200"/>
            <a:ext cx="42062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995928"/>
            <a:ext cx="39319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Next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270248"/>
            <a:ext cx="3931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Ask a focused follow-up about mood or fatigue instead of repeating the whole questionnaire.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Data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43000"/>
          <a:ext cx="4023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Conversations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Hindi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1280160"/>
            <a:ext cx="1005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1C2D48"/>
                </a:solidFill>
                <a:latin typeface="Calibri"/>
              </a:defRPr>
            </a:pPr>
            <a:r>
              <a:t>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325880"/>
            <a:ext cx="4572000" cy="2560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01400" y="128016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5B6D8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11680"/>
            <a:ext cx="1005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1C2D48"/>
                </a:solidFill>
                <a:latin typeface="Calibri"/>
              </a:defRPr>
            </a:pPr>
            <a:r>
              <a:t>Hindi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057400"/>
            <a:ext cx="4572000" cy="256032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01400" y="201168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5B6D87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743200"/>
            <a:ext cx="1005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1C2D48"/>
                </a:solidFill>
                <a:latin typeface="Calibri"/>
              </a:defRPr>
            </a:pPr>
            <a:r>
              <a:t>Hinglish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2788920"/>
            <a:ext cx="2286000" cy="25603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743200"/>
            <a:ext cx="548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400" b="0">
                <a:solidFill>
                  <a:srgbClr val="5B6D87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57600"/>
            <a:ext cx="1033272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67328"/>
            <a:ext cx="100584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Pilot data policy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100584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40 synthetic patient profiles -&gt; 80 total conversations. Public datasets are used only for auxiliary validation and safety robustness, not as a substitute for item-level PHQ-9/GAD-7 annotation.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Annotation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1. Profile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2103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demographics, stressors, symptom pattern</a:t>
            </a:r>
          </a:p>
        </p:txBody>
      </p:sp>
      <p:sp>
        <p:nvSpPr>
          <p:cNvPr id="8" name="Chevron 7"/>
          <p:cNvSpPr/>
          <p:nvPr/>
        </p:nvSpPr>
        <p:spPr>
          <a:xfrm>
            <a:off x="3017520" y="2423160"/>
            <a:ext cx="320040" cy="41148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938528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2. Dialogue drafting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12848"/>
            <a:ext cx="2103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guided generation + manual revision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5897879" y="2423160"/>
            <a:ext cx="320040" cy="41148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38528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3. Double annotation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12848"/>
            <a:ext cx="2103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PHQ/GAD labels, spans, safety</a:t>
            </a:r>
          </a:p>
        </p:txBody>
      </p:sp>
      <p:sp>
        <p:nvSpPr>
          <p:cNvPr id="16" name="Chevron 15"/>
          <p:cNvSpPr/>
          <p:nvPr/>
        </p:nvSpPr>
        <p:spPr>
          <a:xfrm>
            <a:off x="8778240" y="2423160"/>
            <a:ext cx="320040" cy="41148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3774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938528"/>
            <a:ext cx="21031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4. Consensus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212848"/>
            <a:ext cx="210312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resolve disagreements and freeze gold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105156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5B6D87"/>
                </a:solidFill>
                <a:latin typeface="Calibri"/>
              </a:defRPr>
            </a:pPr>
            <a:r>
              <a:t>Quality checks: weighted kappa for item labels, span agreement, and explicit notes on ambiguity or contradiction.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926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26517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Rapport-aware dialogue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04288"/>
            <a:ext cx="26517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Handles greeting, topic steering, and adaptive follow-up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920240"/>
            <a:ext cx="30175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29968"/>
            <a:ext cx="27432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Evidence and scoring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04288"/>
            <a:ext cx="274320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Extracts spans, maps to PHQ-9/GAD-7 items, assigns scores and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37160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481328"/>
            <a:ext cx="24688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E76F51"/>
                </a:solidFill>
                <a:latin typeface="Calibri"/>
              </a:defRPr>
            </a:pPr>
            <a:r>
              <a:t>Parallel safety trigger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755648"/>
            <a:ext cx="246888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Flags crisis-sensitive language for review independently of item scoring.</a:t>
            </a:r>
          </a:p>
        </p:txBody>
      </p:sp>
      <p:sp>
        <p:nvSpPr>
          <p:cNvPr id="14" name="Chevron 13"/>
          <p:cNvSpPr/>
          <p:nvPr/>
        </p:nvSpPr>
        <p:spPr>
          <a:xfrm>
            <a:off x="3840480" y="2423160"/>
            <a:ext cx="411480" cy="50292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726679" y="2423160"/>
            <a:ext cx="411480" cy="502920"/>
          </a:xfrm>
          <a:prstGeom prst="chevron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4160520"/>
            <a:ext cx="47548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4270248"/>
            <a:ext cx="44805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State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544568"/>
            <a:ext cx="448056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LangGraph-style orchestration keeps coverage, confidence, and escalation decisions explicit.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Model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430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main dialogue +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Aya Expanse 32B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open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Mistral NeMo 12B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 second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Gemma 3 12B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safety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IndicBERT-style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412480" y="1234440"/>
            <a:ext cx="2834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344168"/>
            <a:ext cx="2560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Why this stack?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18488"/>
            <a:ext cx="2560320" cy="2103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Aya is the primary multilingual model.</a:t>
            </a:r>
            <a:br/>
            <a:r>
              <a:t>Mistral NeMo is the practical open comparison.</a:t>
            </a:r>
            <a:br/>
            <a:r>
              <a:t>The encoder keeps Hindi-sensitive safety separate.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5B6D87"/>
                </a:solidFill>
                <a:latin typeface="Calibri"/>
              </a:defRPr>
            </a:pPr>
            <a:r>
              <a:t>Phase 1 does not assume full fine-tuning of a 32B model. Most iteration can happen on smaller open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48463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389888"/>
            <a:ext cx="4572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Item-level MAE /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64208"/>
            <a:ext cx="4572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Do predicted item scores match the gold labels?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80160"/>
            <a:ext cx="48463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89888"/>
            <a:ext cx="4572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Evidence support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64208"/>
            <a:ext cx="4572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Are score predictions backed by valid evidence spans?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40"/>
            <a:ext cx="48463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30168"/>
            <a:ext cx="4572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Safety recall /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04488"/>
            <a:ext cx="4572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Does the system catch crisis-sensitive language?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20440"/>
            <a:ext cx="484632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630168"/>
            <a:ext cx="4572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Disclosure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04488"/>
            <a:ext cx="4572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How quickly do uncertain items become resolved?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058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5B6D87"/>
                </a:solidFill>
                <a:latin typeface="Calibri"/>
              </a:defRPr>
            </a:pPr>
            <a:r>
              <a:t>Also tracked: coverage completeness, multilingual parity, and latency as a future integration metric.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Baselines and Ablations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2157984"/>
                <a:gridCol w="2157984"/>
                <a:gridCol w="2157984"/>
                <a:gridCol w="215798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Comparison set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Adaptive?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Evidence-first?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Safety-aware?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C2D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Direct questionnaire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Manual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strongest structured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Fixed scripted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conversation without adaptivity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Single-pass transcript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cheap transcript-only scorer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confidence / no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ablation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572000"/>
            <a:ext cx="10058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5B6D87"/>
                </a:solidFill>
                <a:latin typeface="Calibri"/>
              </a:defRPr>
            </a:pPr>
            <a:r>
              <a:t>Main claim to test: the adaptive evidence-first system should improve coverage and interpretability without sacrificing item-level scoring quality.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Risks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43000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492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>
                    <a:solidFill>
                      <a:srgbClr val="E76F5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small pilot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keep claims modest and emphasize pilot nature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synthetic vs real-world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manual review and explicit realism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Hindi nuance and code-mixing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track parity and include code-mixed cases 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safety misses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parallel safety module + human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754880"/>
            <a:ext cx="102412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0">
                <a:solidFill>
                  <a:srgbClr val="5B6D87"/>
                </a:solidFill>
                <a:latin typeface="Calibri"/>
              </a:defRPr>
            </a:pPr>
            <a:r>
              <a:t>The system is a screening support tool, not a diagnostic or therapeutic replacement. Any later real-user study would require consent, privacy safeguards, and institutional review where appropriate.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Calibri"/>
              </a:defRPr>
            </a:pPr>
            <a:r>
              <a:t>Milestones and Team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4652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B6D87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2834640" cy="1371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5603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proposal + data/eval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25880"/>
            <a:ext cx="2834640" cy="1371600"/>
          </a:xfrm>
          <a:prstGeom prst="roundRect">
            <a:avLst/>
          </a:prstGeom>
          <a:solidFill>
            <a:srgbClr val="1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508760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74519"/>
            <a:ext cx="25603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prototype pipeline + pilot expansion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325880"/>
            <a:ext cx="2834640" cy="13716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508760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874519"/>
            <a:ext cx="25603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experiments + demo + final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794760"/>
            <a:ext cx="40233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3904488"/>
            <a:ext cx="3749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Ritwij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78808"/>
            <a:ext cx="37490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inference engine</a:t>
            </a:r>
            <a:br/>
            <a:r>
              <a:t>scoring logic</a:t>
            </a:r>
            <a:br/>
            <a:r>
              <a:t>evaluation and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794760"/>
            <a:ext cx="40233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904488"/>
            <a:ext cx="3749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1">
                <a:solidFill>
                  <a:srgbClr val="1C2D48"/>
                </a:solidFill>
                <a:latin typeface="Calibri"/>
              </a:defRPr>
            </a:pPr>
            <a:r>
              <a:t>Yash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178808"/>
            <a:ext cx="37490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300" b="0">
                <a:solidFill>
                  <a:srgbClr val="222222"/>
                </a:solidFill>
                <a:latin typeface="Calibri"/>
              </a:defRPr>
            </a:pPr>
            <a:r>
              <a:t>data design</a:t>
            </a:r>
            <a:br/>
            <a:r>
              <a:t>annotation workflow</a:t>
            </a:r>
            <a:br/>
            <a:r>
              <a:t>dialogue and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5B6D87"/>
                </a:solidFill>
                <a:latin typeface="Calibri"/>
              </a:defRPr>
            </a:pPr>
            <a:r>
              <a:t>Immediate next step: freeze the annotation rubric and build the first pilot batch of conversations.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