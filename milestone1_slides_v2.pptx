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BB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46720" y="0"/>
            <a:ext cx="4206240" cy="6858000"/>
          </a:xfrm>
          <a:prstGeom prst="rect">
            <a:avLst/>
          </a:prstGeom>
          <a:solidFill>
            <a:srgbClr val="003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02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9144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3444"/>
            <a:ext cx="2743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 i="0">
                <a:solidFill>
                  <a:srgbClr val="005BBB"/>
                </a:solidFill>
                <a:latin typeface="Arial"/>
              </a:rPr>
              <a:t>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"/>
            <a:ext cx="237744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University at Buffalo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The State University of New York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84080" y="118872"/>
            <a:ext cx="1965960" cy="219456"/>
          </a:xfrm>
          <a:prstGeom prst="roundRect">
            <a:avLst/>
          </a:prstGeom>
          <a:solidFill>
            <a:srgbClr val="002D7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57232" y="132588"/>
            <a:ext cx="1828800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Milestone 1 · Phase 1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00200"/>
            <a:ext cx="7040880" cy="1920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ManoVarta</a:t>
            </a:r>
          </a:p>
          <a:p>
            <a:pPr algn="l"/>
            <a:r>
              <a:rPr sz="2400" b="1" i="0">
                <a:solidFill>
                  <a:srgbClr val="7DD3FC"/>
                </a:solidFill>
                <a:latin typeface="Arial"/>
              </a:rPr>
              <a:t>Multilingual Conversational AI</a:t>
            </a:r>
          </a:p>
          <a:p>
            <a:pPr algn="l"/>
            <a:r>
              <a:rPr sz="2700" b="1" i="0">
                <a:solidFill>
                  <a:srgbClr val="FFFFFF"/>
                </a:solidFill>
                <a:latin typeface="Arial"/>
              </a:rPr>
              <a:t>for Mental Health Screening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56432"/>
            <a:ext cx="576072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Arial"/>
              </a:rPr>
              <a:t>Questionnaire-grounded adaptive dialogue for PHQ-9 / GAD-7 screening in English and Hindi - with evidence-first scoring and parallel safety monitoring.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315968"/>
            <a:ext cx="1783080" cy="310896"/>
          </a:xfrm>
          <a:prstGeom prst="roundRect">
            <a:avLst/>
          </a:prstGeom>
          <a:solidFill>
            <a:srgbClr val="003D8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343400"/>
            <a:ext cx="169164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Arial"/>
              </a:rPr>
              <a:t>Evidence-first scoring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78608" y="4315968"/>
            <a:ext cx="2148840" cy="310896"/>
          </a:xfrm>
          <a:prstGeom prst="roundRect">
            <a:avLst/>
          </a:prstGeom>
          <a:solidFill>
            <a:srgbClr val="003D8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4328" y="4343400"/>
            <a:ext cx="205740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Arial"/>
              </a:rPr>
              <a:t>Confidence-based follow-up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55464" y="4315968"/>
            <a:ext cx="1783080" cy="310896"/>
          </a:xfrm>
          <a:prstGeom prst="roundRect">
            <a:avLst/>
          </a:prstGeom>
          <a:solidFill>
            <a:srgbClr val="003D8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01184" y="4343400"/>
            <a:ext cx="169164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Arial"/>
              </a:rPr>
              <a:t>Parallel safety module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773168"/>
            <a:ext cx="2084831" cy="310896"/>
          </a:xfrm>
          <a:prstGeom prst="roundRect">
            <a:avLst/>
          </a:prstGeom>
          <a:solidFill>
            <a:srgbClr val="003D8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1993391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Arial"/>
              </a:rPr>
              <a:t>English + Hindi + Hinglish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07792" y="4773168"/>
            <a:ext cx="1865376" cy="310896"/>
          </a:xfrm>
          <a:prstGeom prst="roundRect">
            <a:avLst/>
          </a:prstGeom>
          <a:solidFill>
            <a:srgbClr val="003D8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53512" y="4800600"/>
            <a:ext cx="1773936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Arial"/>
              </a:rPr>
              <a:t>LangGraph orchestration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5715000"/>
            <a:ext cx="224028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Ritwij &amp; Yash</a:t>
            </a:r>
          </a:p>
          <a:p>
            <a:pPr algn="r"/>
            <a:r>
              <a:rPr sz="1050" b="0" i="0">
                <a:solidFill>
                  <a:srgbClr val="7DD3FC"/>
                </a:solidFill>
                <a:latin typeface="Arial"/>
              </a:rPr>
              <a:t>[Course Name] ·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6032" y="9144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3444"/>
            <a:ext cx="2743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 i="0">
                <a:solidFill>
                  <a:srgbClr val="005BBB"/>
                </a:solidFill>
                <a:latin typeface="Arial"/>
              </a:rPr>
              <a:t>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"/>
            <a:ext cx="237744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University at Buffalo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The State University of New York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0352"/>
            <a:ext cx="12191695" cy="18288"/>
          </a:xfrm>
          <a:prstGeom prst="rect">
            <a:avLst/>
          </a:prstGeom>
          <a:solidFill>
            <a:srgbClr val="B5C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768096"/>
            <a:ext cx="1088136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 i="0">
                <a:solidFill>
                  <a:srgbClr val="003D8A"/>
                </a:solidFill>
                <a:latin typeface="Arial"/>
              </a:rPr>
              <a:t>Why This Problem Matters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115568"/>
            <a:ext cx="2011680" cy="27432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5257800" cy="914400"/>
          </a:xfrm>
          <a:prstGeom prst="roundRect">
            <a:avLst/>
          </a:prstGeom>
          <a:solidFill>
            <a:srgbClr val="FFF4F4"/>
          </a:solidFill>
          <a:ln w="15875">
            <a:solidFill>
              <a:srgbClr val="F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517904"/>
            <a:ext cx="5001768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1" i="0">
                <a:solidFill>
                  <a:srgbClr val="AA0000"/>
                </a:solidFill>
                <a:latin typeface="Arial"/>
              </a:rPr>
              <a:t>Survey fatigue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764792"/>
            <a:ext cx="5001768" cy="47548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Direct forms feel like a test - patients rush through and give guarded, minimal answers.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32304"/>
            <a:ext cx="5257800" cy="914400"/>
          </a:xfrm>
          <a:prstGeom prst="roundRect">
            <a:avLst/>
          </a:prstGeom>
          <a:solidFill>
            <a:srgbClr val="FFF4F4"/>
          </a:solidFill>
          <a:ln w="15875">
            <a:solidFill>
              <a:srgbClr val="F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532888"/>
            <a:ext cx="5001768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1" i="0">
                <a:solidFill>
                  <a:srgbClr val="AA0000"/>
                </a:solidFill>
                <a:latin typeface="Arial"/>
              </a:rPr>
              <a:t>Social desirability bias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779776"/>
            <a:ext cx="5001768" cy="47548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Fixed item order misses natural symptom narratives. "Have you felt hopeless?" -&gt; almost always "no."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47288"/>
            <a:ext cx="5257800" cy="914400"/>
          </a:xfrm>
          <a:prstGeom prst="roundRect">
            <a:avLst/>
          </a:prstGeom>
          <a:solidFill>
            <a:srgbClr val="FFF4F4"/>
          </a:solidFill>
          <a:ln w="15875">
            <a:solidFill>
              <a:srgbClr val="F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3547872"/>
            <a:ext cx="5001768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1" i="0">
                <a:solidFill>
                  <a:srgbClr val="AA0000"/>
                </a:solidFill>
                <a:latin typeface="Arial"/>
              </a:rPr>
              <a:t>Language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3794760"/>
            <a:ext cx="5001768" cy="47548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Most validated tools are English-only. Hindi nuance and code-mixing go unaddressed.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08192" y="1417320"/>
            <a:ext cx="5440680" cy="1389888"/>
          </a:xfrm>
          <a:prstGeom prst="roundRect">
            <a:avLst/>
          </a:prstGeom>
          <a:solidFill>
            <a:srgbClr val="EDFAF4"/>
          </a:solidFill>
          <a:ln w="15875">
            <a:solidFill>
              <a:srgbClr val="8DD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1517904"/>
            <a:ext cx="5184648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1" i="0">
                <a:solidFill>
                  <a:srgbClr val="0A5E42"/>
                </a:solidFill>
                <a:latin typeface="Arial"/>
              </a:rPr>
              <a:t>What conversation offers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1764792"/>
            <a:ext cx="5184648" cy="95097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› Invites more natural disclosure
› Follow-up can target ambiguous symptoms
› Adaptive coverage without rigid order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08192" y="2944368"/>
            <a:ext cx="5440680" cy="14264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2962656"/>
            <a:ext cx="2692908" cy="1389888"/>
          </a:xfrm>
          <a:prstGeom prst="rect">
            <a:avLst/>
          </a:prstGeom>
          <a:solidFill>
            <a:srgbClr val="FF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37676" y="2962656"/>
            <a:ext cx="2692908" cy="1389888"/>
          </a:xfrm>
          <a:prstGeom prst="rect">
            <a:avLst/>
          </a:prstGeom>
          <a:solidFill>
            <a:srgbClr val="F0F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23960" y="3017520"/>
            <a:ext cx="9144" cy="1280160"/>
          </a:xfrm>
          <a:prstGeom prst="rect">
            <a:avLst/>
          </a:prstGeom>
          <a:solidFill>
            <a:srgbClr val="D5E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8" y="3035808"/>
            <a:ext cx="10972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 i="0">
                <a:solidFill>
                  <a:srgbClr val="AA0000"/>
                </a:solidFill>
                <a:latin typeface="Arial"/>
              </a:rPr>
              <a:t>OLD 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3218688"/>
            <a:ext cx="2464308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"Have you felt hopeless in the last 2 weeks? (0-3)"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8260" y="3035808"/>
            <a:ext cx="128016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 i="0">
                <a:solidFill>
                  <a:srgbClr val="0A5E42"/>
                </a:solidFill>
                <a:latin typeface="Arial"/>
              </a:rPr>
              <a:t>MANOVARTA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8260" y="3218688"/>
            <a:ext cx="2500884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"Tell me about how your week has been going..."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053328"/>
            <a:ext cx="11064240" cy="13716"/>
          </a:xfrm>
          <a:prstGeom prst="rect">
            <a:avLst/>
          </a:prstGeom>
          <a:solidFill>
            <a:srgbClr val="D5E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117336"/>
            <a:ext cx="109728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1">
                <a:solidFill>
                  <a:srgbClr val="005BBB"/>
                </a:solidFill>
                <a:latin typeface="Arial"/>
              </a:rPr>
              <a:t>Questionnaires remain important. The research question is whether conversational elicitation can preserve PHQ-9/GAD-7 structure while sounding less rigid.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6032" y="9144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3444"/>
            <a:ext cx="2743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 i="0">
                <a:solidFill>
                  <a:srgbClr val="005BBB"/>
                </a:solidFill>
                <a:latin typeface="Arial"/>
              </a:rPr>
              <a:t>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"/>
            <a:ext cx="237744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University at Buffalo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The State University of New York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0352"/>
            <a:ext cx="12191695" cy="18288"/>
          </a:xfrm>
          <a:prstGeom prst="rect">
            <a:avLst/>
          </a:prstGeom>
          <a:solidFill>
            <a:srgbClr val="B5C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768096"/>
            <a:ext cx="1088136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 i="0">
                <a:solidFill>
                  <a:srgbClr val="003D8A"/>
                </a:solidFill>
                <a:latin typeface="Arial"/>
              </a:rPr>
              <a:t>Research Gap and Phase 1 Questions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115568"/>
            <a:ext cx="2011680" cy="27432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371600"/>
            <a:ext cx="182880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 i="0">
                <a:solidFill>
                  <a:srgbClr val="AA0000"/>
                </a:solidFill>
                <a:latin typeface="Arial"/>
              </a:rPr>
              <a:t>KNOWN GAPS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09344"/>
            <a:ext cx="5166360" cy="694944"/>
          </a:xfrm>
          <a:prstGeom prst="roundRect">
            <a:avLst/>
          </a:prstGeom>
          <a:solidFill>
            <a:srgbClr val="FFF4F4"/>
          </a:solidFill>
          <a:ln w="15875">
            <a:solidFill>
              <a:srgbClr val="F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773936"/>
            <a:ext cx="4910328" cy="43891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Small pilot data in realistic bilingual screening settings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478024"/>
            <a:ext cx="5166360" cy="694944"/>
          </a:xfrm>
          <a:prstGeom prst="roundRect">
            <a:avLst/>
          </a:prstGeom>
          <a:solidFill>
            <a:srgbClr val="FFF4F4"/>
          </a:solidFill>
          <a:ln w="15875">
            <a:solidFill>
              <a:srgbClr val="F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642616"/>
            <a:ext cx="4910328" cy="43891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Public labels rarely map to item-level PHQ-9/GAD-7 scoring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346704"/>
            <a:ext cx="5166360" cy="694944"/>
          </a:xfrm>
          <a:prstGeom prst="roundRect">
            <a:avLst/>
          </a:prstGeom>
          <a:solidFill>
            <a:srgbClr val="FFF4F4"/>
          </a:solidFill>
          <a:ln w="15875">
            <a:solidFill>
              <a:srgbClr val="F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511296"/>
            <a:ext cx="4910328" cy="43891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Hindi nuance and code-mixing treated as afterthoughts in existing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1371600"/>
            <a:ext cx="274320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 i="0">
                <a:solidFill>
                  <a:srgbClr val="003D8A"/>
                </a:solidFill>
                <a:latin typeface="Arial"/>
              </a:rPr>
              <a:t>PHASE 1 QUESTIONS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1609344"/>
            <a:ext cx="5440680" cy="566928"/>
          </a:xfrm>
          <a:prstGeom prst="roundRect">
            <a:avLst/>
          </a:prstGeom>
          <a:solidFill>
            <a:srgbClr val="EEF4FF"/>
          </a:solidFill>
          <a:ln w="15875">
            <a:solidFill>
              <a:srgbClr val="B5C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2784" y="1773936"/>
            <a:ext cx="5184648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Can natural dialogue recover item-level symptom scores with acceptable accuracy?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2322576"/>
            <a:ext cx="5440680" cy="566928"/>
          </a:xfrm>
          <a:prstGeom prst="roundRect">
            <a:avLst/>
          </a:prstGeom>
          <a:solidFill>
            <a:srgbClr val="EEF4FF"/>
          </a:solidFill>
          <a:ln w="15875">
            <a:solidFill>
              <a:srgbClr val="B5C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2784" y="2487168"/>
            <a:ext cx="5184648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Does confidence-based follow-up improve coverage vs a fixed scripted chatbot?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3035808"/>
            <a:ext cx="5440680" cy="566928"/>
          </a:xfrm>
          <a:prstGeom prst="roundRect">
            <a:avLst/>
          </a:prstGeom>
          <a:solidFill>
            <a:srgbClr val="EEF4FF"/>
          </a:solidFill>
          <a:ln w="15875">
            <a:solidFill>
              <a:srgbClr val="B5C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784" y="3200400"/>
            <a:ext cx="5184648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Does evidence-first scoring produce more stable outputs than single-pass transcript scoring?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3749039"/>
            <a:ext cx="5440680" cy="566928"/>
          </a:xfrm>
          <a:prstGeom prst="roundRect">
            <a:avLst/>
          </a:prstGeom>
          <a:solidFill>
            <a:srgbClr val="EEF4FF"/>
          </a:solidFill>
          <a:ln w="15875">
            <a:solidFill>
              <a:srgbClr val="B5C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2784" y="3913631"/>
            <a:ext cx="5184648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How stable is performance across English, Hindi, and Hinglish?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053328"/>
            <a:ext cx="11064240" cy="13716"/>
          </a:xfrm>
          <a:prstGeom prst="rect">
            <a:avLst/>
          </a:prstGeom>
          <a:solidFill>
            <a:srgbClr val="D5E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117336"/>
            <a:ext cx="109728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1">
                <a:solidFill>
                  <a:srgbClr val="005BBB"/>
                </a:solidFill>
                <a:latin typeface="Arial"/>
              </a:rPr>
              <a:t>Phase 1 goal: a credible research foundation - task definition, data plan, architecture, and evaluation. Not a completed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6032" y="9144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3444"/>
            <a:ext cx="2743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 i="0">
                <a:solidFill>
                  <a:srgbClr val="005BBB"/>
                </a:solidFill>
                <a:latin typeface="Arial"/>
              </a:rPr>
              <a:t>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"/>
            <a:ext cx="237744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University at Buffalo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The State University of New York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0352"/>
            <a:ext cx="12191695" cy="18288"/>
          </a:xfrm>
          <a:prstGeom prst="rect">
            <a:avLst/>
          </a:prstGeom>
          <a:solidFill>
            <a:srgbClr val="B5C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768096"/>
            <a:ext cx="1088136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 i="0">
                <a:solidFill>
                  <a:srgbClr val="003D8A"/>
                </a:solidFill>
                <a:latin typeface="Arial"/>
              </a:rPr>
              <a:t>Example: Conversation -&gt; Structured Output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115568"/>
            <a:ext cx="2011680" cy="27432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417320"/>
            <a:ext cx="4892040" cy="1325880"/>
          </a:xfrm>
          <a:prstGeom prst="roundRect">
            <a:avLst/>
          </a:prstGeom>
          <a:solidFill>
            <a:srgbClr val="EEF4FF"/>
          </a:solidFill>
          <a:ln w="15875">
            <a:solidFill>
              <a:srgbClr val="B5C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1517904"/>
            <a:ext cx="4636008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1" i="0">
                <a:solidFill>
                  <a:srgbClr val="003D8A"/>
                </a:solidFill>
                <a:latin typeface="Arial"/>
              </a:rPr>
              <a:t>Sample patient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764792"/>
            <a:ext cx="4636008" cy="8869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› 23-year-old graduate student
› English-dominant
› Moderate sleep disruption + concentration difficulty
› No immediate safety flag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9504"/>
            <a:ext cx="4892040" cy="804672"/>
          </a:xfrm>
          <a:prstGeom prst="roundRect">
            <a:avLst/>
          </a:prstGeom>
          <a:solidFill>
            <a:srgbClr val="F5F8FD"/>
          </a:solidFill>
          <a:ln w="15875">
            <a:solidFill>
              <a:srgbClr val="D5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008376"/>
            <a:ext cx="11887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 i="0">
                <a:solidFill>
                  <a:srgbClr val="0A5E42"/>
                </a:solidFill>
                <a:latin typeface="Arial"/>
              </a:rPr>
              <a:t>USER UTTERANCE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200400"/>
            <a:ext cx="457200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1">
                <a:solidFill>
                  <a:srgbClr val="666666"/>
                </a:solidFill>
                <a:latin typeface="Arial"/>
              </a:rPr>
              <a:t>"My sleep schedule is messed up and I can't focus on assignments."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40480"/>
            <a:ext cx="4892040" cy="1078992"/>
          </a:xfrm>
          <a:prstGeom prst="roundRect">
            <a:avLst/>
          </a:prstGeom>
          <a:solidFill>
            <a:srgbClr val="EDFAF4"/>
          </a:solidFill>
          <a:ln w="15875">
            <a:solidFill>
              <a:srgbClr val="8DD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3941064"/>
            <a:ext cx="4636008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1" i="0">
                <a:solidFill>
                  <a:srgbClr val="0A5E42"/>
                </a:solidFill>
                <a:latin typeface="Arial"/>
              </a:rPr>
              <a:t>Next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4187952"/>
            <a:ext cx="4636008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Ask targeted follow-up about mood or fatigue - sleep and concentration already high-confidence, skip repeating them.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87568" y="1426464"/>
            <a:ext cx="274320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 i="0">
                <a:solidFill>
                  <a:srgbClr val="003D8A"/>
                </a:solidFill>
                <a:latin typeface="Arial"/>
              </a:rPr>
              <a:t>EVIDENCE-FIRST STRUCTURED OUTPUT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87568" y="1664208"/>
            <a:ext cx="5623560" cy="338328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15584" y="1773936"/>
            <a:ext cx="5367528" cy="316382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30" b="0" i="0">
                <a:solidFill>
                  <a:srgbClr val="94A3B8"/>
                </a:solidFill>
                <a:latin typeface="Courier New"/>
              </a:rPr>
              <a:t>{
  "evidence": [
    { "item": "phq_q3_sleep",
      "span": "sleep schedule is messed up",
      "score": 2 },
    { "item": "phq_q7_concentration",
      "span": "can't focus on assignments",
      "score": 2 }
  ],
  "confidence": {
    "phq_q3_sleep": 0.86,
    "phq_q7_concentration": 0.79,
    "phq_q2_low_mood": 0.31  &lt;- unresolved
  },
  "next_action": "follow_up_on_mood"
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053328"/>
            <a:ext cx="11064240" cy="13716"/>
          </a:xfrm>
          <a:prstGeom prst="rect">
            <a:avLst/>
          </a:prstGeom>
          <a:solidFill>
            <a:srgbClr val="D5E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117336"/>
            <a:ext cx="109728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1">
                <a:solidFill>
                  <a:srgbClr val="005BBB"/>
                </a:solidFill>
                <a:latin typeface="Arial"/>
              </a:rPr>
              <a:t>Every score is traceable to a quoted evidence span. A correct total with no item evidence is not sufficient for this project.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6032" y="9144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3444"/>
            <a:ext cx="2743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 i="0">
                <a:solidFill>
                  <a:srgbClr val="005BBB"/>
                </a:solidFill>
                <a:latin typeface="Arial"/>
              </a:rPr>
              <a:t>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"/>
            <a:ext cx="237744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University at Buffalo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The State University of New York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0352"/>
            <a:ext cx="12191695" cy="18288"/>
          </a:xfrm>
          <a:prstGeom prst="rect">
            <a:avLst/>
          </a:prstGeom>
          <a:solidFill>
            <a:srgbClr val="B5C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768096"/>
            <a:ext cx="1088136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 i="0">
                <a:solidFill>
                  <a:srgbClr val="003D8A"/>
                </a:solidFill>
                <a:latin typeface="Arial"/>
              </a:rPr>
              <a:t>Proposed System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115568"/>
            <a:ext cx="2011680" cy="27432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2423160" cy="1143000"/>
          </a:xfrm>
          <a:prstGeom prst="roundRect">
            <a:avLst/>
          </a:prstGeom>
          <a:solidFill>
            <a:srgbClr val="F5F8FD"/>
          </a:solidFill>
          <a:ln w="15875">
            <a:solidFill>
              <a:srgbClr val="D5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892808"/>
            <a:ext cx="10972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 i="0">
                <a:solidFill>
                  <a:srgbClr val="666666"/>
                </a:solidFill>
                <a:latin typeface="Arial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075688"/>
            <a:ext cx="2167128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20" b="1" i="0">
                <a:solidFill>
                  <a:srgbClr val="003D8A"/>
                </a:solidFill>
                <a:latin typeface="Arial"/>
              </a:rPr>
              <a:t>User 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295144"/>
            <a:ext cx="2167128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80" b="0" i="0">
                <a:solidFill>
                  <a:srgbClr val="666666"/>
                </a:solidFill>
                <a:latin typeface="Arial"/>
              </a:rPr>
              <a:t>• English / Hindi
• Hinglish 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1783080"/>
            <a:ext cx="2423160" cy="1143000"/>
          </a:xfrm>
          <a:prstGeom prst="roundRect">
            <a:avLst/>
          </a:prstGeom>
          <a:solidFill>
            <a:srgbClr val="EEF4FF"/>
          </a:solidFill>
          <a:ln w="15875">
            <a:solidFill>
              <a:srgbClr val="B5C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00984" y="1892808"/>
            <a:ext cx="10972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 i="0">
                <a:solidFill>
                  <a:srgbClr val="003D8A"/>
                </a:solidFill>
                <a:latin typeface="Arial"/>
              </a:rPr>
              <a:t>LAYER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2696" y="2075688"/>
            <a:ext cx="2167128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20" b="1" i="0">
                <a:solidFill>
                  <a:srgbClr val="003D8A"/>
                </a:solidFill>
                <a:latin typeface="Arial"/>
              </a:rPr>
              <a:t>Dialogue 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82696" y="2295144"/>
            <a:ext cx="2167128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80" b="0" i="0">
                <a:solidFill>
                  <a:srgbClr val="666666"/>
                </a:solidFill>
                <a:latin typeface="Arial"/>
              </a:rPr>
              <a:t>• Topic steering
• Coverage tracking
• Follow-up strategy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06440" y="1783080"/>
            <a:ext cx="2423160" cy="1143000"/>
          </a:xfrm>
          <a:prstGeom prst="roundRect">
            <a:avLst/>
          </a:prstGeom>
          <a:solidFill>
            <a:srgbClr val="EDFAF4"/>
          </a:solidFill>
          <a:ln w="15875">
            <a:solidFill>
              <a:srgbClr val="8DD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52744" y="1892808"/>
            <a:ext cx="10972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 i="0">
                <a:solidFill>
                  <a:srgbClr val="0A5E42"/>
                </a:solidFill>
                <a:latin typeface="Arial"/>
              </a:rPr>
              <a:t>LAYER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34456" y="2075688"/>
            <a:ext cx="2167128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20" b="1" i="0">
                <a:solidFill>
                  <a:srgbClr val="0A5E42"/>
                </a:solidFill>
                <a:latin typeface="Arial"/>
              </a:rPr>
              <a:t>Scoring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4456" y="2295144"/>
            <a:ext cx="2167128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80" b="0" i="0">
                <a:solidFill>
                  <a:srgbClr val="666666"/>
                </a:solidFill>
                <a:latin typeface="Arial"/>
              </a:rPr>
              <a:t>• Span extraction
• Item mapping
• 0-3 scoring + conf.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8200" y="1783080"/>
            <a:ext cx="2423160" cy="1143000"/>
          </a:xfrm>
          <a:prstGeom prst="roundRect">
            <a:avLst/>
          </a:prstGeom>
          <a:solidFill>
            <a:srgbClr val="F5F8FD"/>
          </a:solidFill>
          <a:ln w="15875">
            <a:solidFill>
              <a:srgbClr val="D5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04504" y="1892808"/>
            <a:ext cx="10972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 i="0">
                <a:solidFill>
                  <a:srgbClr val="666666"/>
                </a:solidFill>
                <a:latin typeface="Arial"/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86216" y="2075688"/>
            <a:ext cx="2167128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20" b="1" i="0">
                <a:solidFill>
                  <a:srgbClr val="003D8A"/>
                </a:solidFill>
                <a:latin typeface="Arial"/>
              </a:rPr>
              <a:t>Clinician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86216" y="2295144"/>
            <a:ext cx="2167128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80" b="0" i="0">
                <a:solidFill>
                  <a:srgbClr val="666666"/>
                </a:solidFill>
                <a:latin typeface="Arial"/>
              </a:rPr>
              <a:t>• Item scores
• Confidence
• Safety flags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70632" y="2194560"/>
            <a:ext cx="292608" cy="23774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900" b="1" i="0">
                <a:solidFill>
                  <a:srgbClr val="005BBB"/>
                </a:solidFill>
                <a:latin typeface="Arial"/>
              </a:rPr>
              <a:t>-&gt;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2392" y="2194560"/>
            <a:ext cx="292608" cy="23774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900" b="1" i="0">
                <a:solidFill>
                  <a:srgbClr val="005BBB"/>
                </a:solidFill>
                <a:latin typeface="Arial"/>
              </a:rPr>
              <a:t>-&gt;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74152" y="2194560"/>
            <a:ext cx="292608" cy="23774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900" b="1" i="0">
                <a:solidFill>
                  <a:srgbClr val="005BBB"/>
                </a:solidFill>
                <a:latin typeface="Arial"/>
              </a:rPr>
              <a:t>-&gt;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310128"/>
            <a:ext cx="1005840" cy="256032"/>
          </a:xfrm>
          <a:prstGeom prst="roundRect">
            <a:avLst/>
          </a:prstGeom>
          <a:solidFill>
            <a:srgbClr val="FFF4F4"/>
          </a:solidFill>
          <a:ln w="15875">
            <a:solidFill>
              <a:srgbClr val="F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3364992"/>
            <a:ext cx="86868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000" b="1" i="0">
                <a:solidFill>
                  <a:srgbClr val="AA0000"/>
                </a:solidFill>
                <a:latin typeface="Arial"/>
              </a:rPr>
              <a:t>from input 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83080" y="3429000"/>
            <a:ext cx="7680960" cy="13716"/>
          </a:xfrm>
          <a:prstGeom prst="rect">
            <a:avLst/>
          </a:prstGeom>
          <a:solidFill>
            <a:srgbClr val="F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46920" y="3310128"/>
            <a:ext cx="1097280" cy="256032"/>
          </a:xfrm>
          <a:prstGeom prst="roundRect">
            <a:avLst/>
          </a:prstGeom>
          <a:solidFill>
            <a:srgbClr val="FFF4F4"/>
          </a:solidFill>
          <a:ln w="15875">
            <a:solidFill>
              <a:srgbClr val="F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20072" y="3364992"/>
            <a:ext cx="950976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000" b="1" i="0">
                <a:solidFill>
                  <a:srgbClr val="AA0000"/>
                </a:solidFill>
                <a:latin typeface="Arial"/>
              </a:rPr>
              <a:t>-&gt; to summary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3822191"/>
            <a:ext cx="10149840" cy="822960"/>
          </a:xfrm>
          <a:prstGeom prst="roundRect">
            <a:avLst/>
          </a:prstGeom>
          <a:solidFill>
            <a:srgbClr val="FFF4F4"/>
          </a:solidFill>
          <a:ln w="15875">
            <a:solidFill>
              <a:srgbClr val="F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3986784"/>
            <a:ext cx="128016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1" i="0">
                <a:solidFill>
                  <a:srgbClr val="AA0000"/>
                </a:solidFill>
                <a:latin typeface="Arial"/>
              </a:rPr>
              <a:t>Parallel Safety</a:t>
            </a:r>
          </a:p>
          <a:p>
            <a:pPr algn="l"/>
            <a:r>
              <a:rPr sz="1050" b="1" i="0">
                <a:solidFill>
                  <a:srgbClr val="AA0000"/>
                </a:solidFill>
                <a:latin typeface="Arial"/>
              </a:rPr>
              <a:t>Trigger Module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3959352"/>
            <a:ext cx="83210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30" b="0" i="0">
                <a:solidFill>
                  <a:srgbClr val="666666"/>
                </a:solidFill>
                <a:latin typeface="Arial"/>
              </a:rPr>
              <a:t>Runs independently of symptom scoring on every turn. Flags escalation-sensitive language (self-harm, extreme hopelessness) for immediate human review. Does not depend on the scoring engine being correct.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053328"/>
            <a:ext cx="11064240" cy="13716"/>
          </a:xfrm>
          <a:prstGeom prst="rect">
            <a:avLst/>
          </a:prstGeom>
          <a:solidFill>
            <a:srgbClr val="D5E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117336"/>
            <a:ext cx="109728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1">
                <a:solidFill>
                  <a:srgbClr val="005BBB"/>
                </a:solidFill>
                <a:latin typeface="Arial"/>
              </a:rPr>
              <a:t>Key design choice: safety runs in parallel rather than waiting for the main dialogue model to be correct.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6032" y="9144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3444"/>
            <a:ext cx="2743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 i="0">
                <a:solidFill>
                  <a:srgbClr val="005BBB"/>
                </a:solidFill>
                <a:latin typeface="Arial"/>
              </a:rPr>
              <a:t>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"/>
            <a:ext cx="237744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University at Buffalo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The State University of New York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0352"/>
            <a:ext cx="12191695" cy="18288"/>
          </a:xfrm>
          <a:prstGeom prst="rect">
            <a:avLst/>
          </a:prstGeom>
          <a:solidFill>
            <a:srgbClr val="B5C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768096"/>
            <a:ext cx="1088136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 i="0">
                <a:solidFill>
                  <a:srgbClr val="003D8A"/>
                </a:solidFill>
                <a:latin typeface="Arial"/>
              </a:rPr>
              <a:t>Pilot Data Plan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115568"/>
            <a:ext cx="2011680" cy="27432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417320"/>
            <a:ext cx="4937760" cy="1463040"/>
          </a:xfrm>
          <a:prstGeom prst="roundRect">
            <a:avLst/>
          </a:prstGeom>
          <a:solidFill>
            <a:srgbClr val="EEF4FF"/>
          </a:solidFill>
          <a:ln w="15875">
            <a:solidFill>
              <a:srgbClr val="B5C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1517904"/>
            <a:ext cx="4681728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1" i="0">
                <a:solidFill>
                  <a:srgbClr val="003D8A"/>
                </a:solidFill>
                <a:latin typeface="Arial"/>
              </a:rPr>
              <a:t>Synthetic conversations - 80 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764792"/>
            <a:ext cx="4681728" cy="10241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› 40 patient profiles x 2 disclosure variants
› 32 English · 32 Hindi · 16 Hinglish/code-mixed
› Profile-guided GPT generation + manual review
› Covers minimal -&gt; severe severity range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35808"/>
            <a:ext cx="4937760" cy="1261872"/>
          </a:xfrm>
          <a:prstGeom prst="roundRect">
            <a:avLst/>
          </a:prstGeom>
          <a:solidFill>
            <a:srgbClr val="F5F8FD"/>
          </a:solidFill>
          <a:ln w="15875">
            <a:solidFill>
              <a:srgbClr val="D5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3136392"/>
            <a:ext cx="4681728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1" i="0">
                <a:solidFill>
                  <a:srgbClr val="003D8A"/>
                </a:solidFill>
                <a:latin typeface="Arial"/>
              </a:rPr>
              <a:t>Public data (auxiliary only)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3383280"/>
            <a:ext cx="4681728" cy="8229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› DAIC-WOZ - few-shot grounding + weak validation
› CLPsych / eRisk - safety trigger stress tests
› Label mismatch noted: total scores, not item-level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1444752"/>
            <a:ext cx="320040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 i="0">
                <a:solidFill>
                  <a:srgbClr val="003D8A"/>
                </a:solidFill>
                <a:latin typeface="Arial"/>
              </a:rPr>
              <a:t>DATASET COMPOSITION (80 CONVERSATIONS)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1783080"/>
            <a:ext cx="5394960" cy="384048"/>
          </a:xfrm>
          <a:prstGeom prst="round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1856232"/>
            <a:ext cx="2651760" cy="1371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English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837944"/>
            <a:ext cx="173736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1350" b="1" i="0">
                <a:solidFill>
                  <a:srgbClr val="7DD3FC"/>
                </a:solidFill>
                <a:latin typeface="Arial"/>
              </a:rPr>
              <a:t>32 · 40%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06440" y="2304288"/>
            <a:ext cx="5394960" cy="384048"/>
          </a:xfrm>
          <a:prstGeom prst="roundRect">
            <a:avLst/>
          </a:prstGeom>
          <a:solidFill>
            <a:srgbClr val="1A7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2377440"/>
            <a:ext cx="2651760" cy="1371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Hindi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359152"/>
            <a:ext cx="173736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1350" b="1" i="0">
                <a:solidFill>
                  <a:srgbClr val="7DD3FC"/>
                </a:solidFill>
                <a:latin typeface="Arial"/>
              </a:rPr>
              <a:t>32 · 40%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2825496"/>
            <a:ext cx="5394960" cy="384048"/>
          </a:xfrm>
          <a:prstGeom prst="roundRect">
            <a:avLst/>
          </a:prstGeom>
          <a:solidFill>
            <a:srgbClr val="D0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9320" y="2898648"/>
            <a:ext cx="2651760" cy="1371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Hinglish / code-mixed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880360"/>
            <a:ext cx="173736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1350" b="1" i="0">
                <a:solidFill>
                  <a:srgbClr val="FFE0D0"/>
                </a:solidFill>
                <a:latin typeface="Arial"/>
              </a:rPr>
              <a:t>16 · 20%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06440" y="3520440"/>
            <a:ext cx="5394960" cy="1225296"/>
          </a:xfrm>
          <a:prstGeom prst="roundRect">
            <a:avLst/>
          </a:prstGeom>
          <a:solidFill>
            <a:srgbClr val="F5F8FD"/>
          </a:solidFill>
          <a:ln w="15875">
            <a:solidFill>
              <a:srgbClr val="D5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89320" y="3648456"/>
            <a:ext cx="14630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 i="0">
                <a:solidFill>
                  <a:srgbClr val="0A5E42"/>
                </a:solidFill>
                <a:latin typeface="Arial"/>
              </a:rPr>
              <a:t>SAMPLE ANNOTATION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3840480"/>
            <a:ext cx="493776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20" b="0" i="1">
                <a:solidFill>
                  <a:srgbClr val="666666"/>
                </a:solidFill>
                <a:latin typeface="Arial"/>
              </a:rPr>
              <a:t>"I've been really drained. I used to love the gym but haven't been in weeks."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89320" y="4297680"/>
            <a:ext cx="1280160" cy="256032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B5C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4325112"/>
            <a:ext cx="11887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50" b="0" i="0">
                <a:solidFill>
                  <a:srgbClr val="003D8A"/>
                </a:solidFill>
                <a:latin typeface="Arial"/>
              </a:rPr>
              <a:t>Anhedonia -&gt; 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24927" y="4297680"/>
            <a:ext cx="1115568" cy="256032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B5C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70647" y="4325112"/>
            <a:ext cx="102412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50" b="0" i="0">
                <a:solidFill>
                  <a:srgbClr val="003D8A"/>
                </a:solidFill>
                <a:latin typeface="Arial"/>
              </a:rPr>
              <a:t>Fatigue -&gt; 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0" y="4297680"/>
            <a:ext cx="1417320" cy="256032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B5C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32520" y="4325112"/>
            <a:ext cx="132588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50" b="0" i="0">
                <a:solidFill>
                  <a:srgbClr val="003D8A"/>
                </a:solidFill>
                <a:latin typeface="Arial"/>
              </a:rPr>
              <a:t>PHQ-9 ~= 9/27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053328"/>
            <a:ext cx="11064240" cy="13716"/>
          </a:xfrm>
          <a:prstGeom prst="rect">
            <a:avLst/>
          </a:prstGeom>
          <a:solidFill>
            <a:srgbClr val="D5E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117336"/>
            <a:ext cx="109728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1">
                <a:solidFill>
                  <a:srgbClr val="005BBB"/>
                </a:solidFill>
                <a:latin typeface="Arial"/>
              </a:rPr>
              <a:t>Planned pilot composition only - not presented as a completed clinical dataset.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6032" y="9144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3444"/>
            <a:ext cx="2743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 i="0">
                <a:solidFill>
                  <a:srgbClr val="005BBB"/>
                </a:solidFill>
                <a:latin typeface="Arial"/>
              </a:rPr>
              <a:t>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"/>
            <a:ext cx="237744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University at Buffalo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The State University of New York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0352"/>
            <a:ext cx="12191695" cy="18288"/>
          </a:xfrm>
          <a:prstGeom prst="rect">
            <a:avLst/>
          </a:prstGeom>
          <a:solidFill>
            <a:srgbClr val="B5C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768096"/>
            <a:ext cx="1088136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 i="0">
                <a:solidFill>
                  <a:srgbClr val="003D8A"/>
                </a:solidFill>
                <a:latin typeface="Arial"/>
              </a:rPr>
              <a:t>Annotation Protocol and Data Schema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115568"/>
            <a:ext cx="2011680" cy="27432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417320"/>
            <a:ext cx="2615184" cy="932688"/>
          </a:xfrm>
          <a:prstGeom prst="roundRect">
            <a:avLst/>
          </a:prstGeom>
          <a:solidFill>
            <a:srgbClr val="F5F8FD"/>
          </a:solidFill>
          <a:ln w="15875">
            <a:solidFill>
              <a:srgbClr val="D5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1517904"/>
            <a:ext cx="2359152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1" i="0">
                <a:solidFill>
                  <a:srgbClr val="003D8A"/>
                </a:solidFill>
                <a:latin typeface="Arial"/>
              </a:rPr>
              <a:t>1. Profile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764792"/>
            <a:ext cx="2359152" cy="49377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Age, context, symptom pattern, disclosure style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9856" y="1417320"/>
            <a:ext cx="2615184" cy="932688"/>
          </a:xfrm>
          <a:prstGeom prst="roundRect">
            <a:avLst/>
          </a:prstGeom>
          <a:solidFill>
            <a:srgbClr val="F5F8FD"/>
          </a:solidFill>
          <a:ln w="15875">
            <a:solidFill>
              <a:srgbClr val="D5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1517904"/>
            <a:ext cx="2359152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1" i="0">
                <a:solidFill>
                  <a:srgbClr val="003D8A"/>
                </a:solidFill>
                <a:latin typeface="Arial"/>
              </a:rPr>
              <a:t>2. Dialogue drafting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1764792"/>
            <a:ext cx="2359152" cy="49377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Guided generation followed by manual editing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1417320"/>
            <a:ext cx="2615184" cy="932688"/>
          </a:xfrm>
          <a:prstGeom prst="roundRect">
            <a:avLst/>
          </a:prstGeom>
          <a:solidFill>
            <a:srgbClr val="EEF4FF"/>
          </a:solidFill>
          <a:ln w="15875">
            <a:solidFill>
              <a:srgbClr val="B5C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17904"/>
            <a:ext cx="2359152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1" i="0">
                <a:solidFill>
                  <a:srgbClr val="003D8A"/>
                </a:solidFill>
                <a:latin typeface="Arial"/>
              </a:rPr>
              <a:t>3. Double annotation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64792"/>
            <a:ext cx="2359152" cy="49377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PHQ-9, GAD-7, evidence spans, safety flag - independently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25711" y="1417320"/>
            <a:ext cx="2615184" cy="932688"/>
          </a:xfrm>
          <a:prstGeom prst="roundRect">
            <a:avLst/>
          </a:prstGeom>
          <a:solidFill>
            <a:srgbClr val="EEF4FF"/>
          </a:solidFill>
          <a:ln w="15875">
            <a:solidFill>
              <a:srgbClr val="B5C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53727" y="1517904"/>
            <a:ext cx="2359152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1" i="0">
                <a:solidFill>
                  <a:srgbClr val="003D8A"/>
                </a:solidFill>
                <a:latin typeface="Arial"/>
              </a:rPr>
              <a:t>4. Consensus 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7" y="1764792"/>
            <a:ext cx="2359152" cy="49377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Resolve disagreements against DSM-5-TR, freeze gold labels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2633472"/>
            <a:ext cx="182880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 i="0">
                <a:solidFill>
                  <a:srgbClr val="003D8A"/>
                </a:solidFill>
                <a:latin typeface="Arial"/>
              </a:rPr>
              <a:t>GOLD LABEL SCHEMA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852928"/>
            <a:ext cx="10972800" cy="192024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2962656"/>
            <a:ext cx="10716768" cy="170078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30" b="0" i="0">
                <a:solidFill>
                  <a:srgbClr val="94A3B8"/>
                </a:solidFill>
                <a:latin typeface="Courier New"/>
              </a:rPr>
              <a:t>{
  "patient_id": "MB-P001",
  "language": "en",
  "evidence_spans": ["sleep schedule is messed up"],
  "phq_q3_sleep": 2,
  "phq_q7_concentration": 2,
  "safety_flag": "none"
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053328"/>
            <a:ext cx="11064240" cy="13716"/>
          </a:xfrm>
          <a:prstGeom prst="rect">
            <a:avLst/>
          </a:prstGeom>
          <a:solidFill>
            <a:srgbClr val="D5E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117336"/>
            <a:ext cx="109728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1">
                <a:solidFill>
                  <a:srgbClr val="005BBB"/>
                </a:solidFill>
                <a:latin typeface="Arial"/>
              </a:rPr>
              <a:t>Agreement targets: weighted Cohen's Kappa for item labels · span overlap for evidence · explicit notes on ambiguity or contradiction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6032" y="9144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3444"/>
            <a:ext cx="2743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 i="0">
                <a:solidFill>
                  <a:srgbClr val="005BBB"/>
                </a:solidFill>
                <a:latin typeface="Arial"/>
              </a:rPr>
              <a:t>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"/>
            <a:ext cx="237744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University at Buffalo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The State University of New York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0352"/>
            <a:ext cx="12191695" cy="18288"/>
          </a:xfrm>
          <a:prstGeom prst="rect">
            <a:avLst/>
          </a:prstGeom>
          <a:solidFill>
            <a:srgbClr val="B5C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768096"/>
            <a:ext cx="1088136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 i="0">
                <a:solidFill>
                  <a:srgbClr val="003D8A"/>
                </a:solidFill>
                <a:latin typeface="Arial"/>
              </a:rPr>
              <a:t>Model Stack and Compute Rationale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115568"/>
            <a:ext cx="2011680" cy="27432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417320"/>
            <a:ext cx="2596896" cy="1024128"/>
          </a:xfrm>
          <a:prstGeom prst="roundRect">
            <a:avLst/>
          </a:prstGeom>
          <a:solidFill>
            <a:srgbClr val="EEF4FF"/>
          </a:solidFill>
          <a:ln w="22225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6656" y="1536192"/>
            <a:ext cx="868680" cy="201168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563624"/>
            <a:ext cx="777240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50" b="0" i="0">
                <a:solidFill>
                  <a:srgbClr val="003D8A"/>
                </a:solidFill>
                <a:latin typeface="Arial"/>
              </a:rPr>
              <a:t>Primary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810512"/>
            <a:ext cx="233172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1" i="0">
                <a:solidFill>
                  <a:srgbClr val="003D8A"/>
                </a:solidFill>
                <a:latin typeface="Arial"/>
              </a:rPr>
              <a:t>Dialogue +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048256"/>
            <a:ext cx="23317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003D8A"/>
                </a:solidFill>
                <a:latin typeface="Arial"/>
              </a:rPr>
              <a:t>Aya Expanse 32B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1417320"/>
            <a:ext cx="2596896" cy="1024128"/>
          </a:xfrm>
          <a:prstGeom prst="roundRect">
            <a:avLst/>
          </a:prstGeom>
          <a:solidFill>
            <a:srgbClr val="F5F8FD"/>
          </a:solidFill>
          <a:ln w="22225">
            <a:solidFill>
              <a:srgbClr val="7AA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74720" y="1536192"/>
            <a:ext cx="868680" cy="201168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7AA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1563624"/>
            <a:ext cx="777240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50" b="0" i="0">
                <a:solidFill>
                  <a:srgbClr val="003D8A"/>
                </a:solidFill>
                <a:latin typeface="Arial"/>
              </a:rPr>
              <a:t>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1810512"/>
            <a:ext cx="233172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1" i="0">
                <a:solidFill>
                  <a:srgbClr val="003D8A"/>
                </a:solidFill>
                <a:latin typeface="Arial"/>
              </a:rPr>
              <a:t>Open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048256"/>
            <a:ext cx="23317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003D8A"/>
                </a:solidFill>
                <a:latin typeface="Arial"/>
              </a:rPr>
              <a:t>Mistral NeMo 12B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6" y="1417320"/>
            <a:ext cx="2596896" cy="1024128"/>
          </a:xfrm>
          <a:prstGeom prst="roundRect">
            <a:avLst/>
          </a:prstGeom>
          <a:solidFill>
            <a:srgbClr val="F5F8FD"/>
          </a:solidFill>
          <a:ln w="22225">
            <a:solidFill>
              <a:srgbClr val="9AC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72784" y="1536192"/>
            <a:ext cx="868680" cy="201168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9AC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8504" y="1563624"/>
            <a:ext cx="777240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50" b="0" i="0">
                <a:solidFill>
                  <a:srgbClr val="003D8A"/>
                </a:solidFill>
                <a:latin typeface="Arial"/>
              </a:rPr>
              <a:t>Optional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4" y="1810512"/>
            <a:ext cx="233172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1" i="0">
                <a:solidFill>
                  <a:srgbClr val="003D8A"/>
                </a:solidFill>
                <a:latin typeface="Arial"/>
              </a:rPr>
              <a:t>Second Baseline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4" y="2048256"/>
            <a:ext cx="23317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003D8A"/>
                </a:solidFill>
                <a:latin typeface="Arial"/>
              </a:rPr>
              <a:t>Gemma 3 12B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1417320"/>
            <a:ext cx="2596896" cy="1024128"/>
          </a:xfrm>
          <a:prstGeom prst="roundRect">
            <a:avLst/>
          </a:prstGeom>
          <a:solidFill>
            <a:srgbClr val="FFF4F4"/>
          </a:solidFill>
          <a:ln w="22225">
            <a:solidFill>
              <a:srgbClr val="E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70847" y="1536192"/>
            <a:ext cx="868680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16567" y="1563624"/>
            <a:ext cx="777240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50" b="0" i="0">
                <a:solidFill>
                  <a:srgbClr val="AA0000"/>
                </a:solidFill>
                <a:latin typeface="Arial"/>
              </a:rPr>
              <a:t>Utility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0847" y="1810512"/>
            <a:ext cx="233172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1" i="0">
                <a:solidFill>
                  <a:srgbClr val="AA0000"/>
                </a:solidFill>
                <a:latin typeface="Arial"/>
              </a:rPr>
              <a:t>Safety / Retrieval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0847" y="2048256"/>
            <a:ext cx="23317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AA0000"/>
                </a:solidFill>
                <a:latin typeface="Arial"/>
              </a:rPr>
              <a:t>IndicBERT-style encoder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2788920"/>
            <a:ext cx="5394960" cy="1234440"/>
          </a:xfrm>
          <a:prstGeom prst="roundRect">
            <a:avLst/>
          </a:prstGeom>
          <a:solidFill>
            <a:srgbClr val="EEF4FF"/>
          </a:solidFill>
          <a:ln w="15875">
            <a:solidFill>
              <a:srgbClr val="B5C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2889504"/>
            <a:ext cx="5138928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1" i="0">
                <a:solidFill>
                  <a:srgbClr val="003D8A"/>
                </a:solidFill>
                <a:latin typeface="Arial"/>
              </a:rPr>
              <a:t>Why modular?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3136392"/>
            <a:ext cx="5138928" cy="7955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Dialogue, scoring, and safety are fully separable - each layer can be swapped, inspected, and ablated independently without touching the others.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4768" y="2788920"/>
            <a:ext cx="5394960" cy="1234440"/>
          </a:xfrm>
          <a:prstGeom prst="roundRect">
            <a:avLst/>
          </a:prstGeom>
          <a:solidFill>
            <a:srgbClr val="F5F8FD"/>
          </a:solidFill>
          <a:ln w="15875">
            <a:solidFill>
              <a:srgbClr val="D5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2784" y="2889504"/>
            <a:ext cx="5138928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1" i="0">
                <a:solidFill>
                  <a:srgbClr val="003D8A"/>
                </a:solidFill>
                <a:latin typeface="Arial"/>
              </a:rPr>
              <a:t>Compute plan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2784" y="3136392"/>
            <a:ext cx="5138928" cy="7955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› Smaller models (Mistral, Gemma) handle most iteration
› Aya Expanse for targeted evaluation subsets via quantized / hosted inference
› No full supervised fine-tuning assumed in Phase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6032" y="9144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3444"/>
            <a:ext cx="2743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 i="0">
                <a:solidFill>
                  <a:srgbClr val="005BBB"/>
                </a:solidFill>
                <a:latin typeface="Arial"/>
              </a:rPr>
              <a:t>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"/>
            <a:ext cx="237744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University at Buffalo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The State University of New York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0352"/>
            <a:ext cx="12191695" cy="18288"/>
          </a:xfrm>
          <a:prstGeom prst="rect">
            <a:avLst/>
          </a:prstGeom>
          <a:solidFill>
            <a:srgbClr val="B5C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768096"/>
            <a:ext cx="1088136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 i="0">
                <a:solidFill>
                  <a:srgbClr val="003D8A"/>
                </a:solidFill>
                <a:latin typeface="Arial"/>
              </a:rPr>
              <a:t>Evaluation Plan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115568"/>
            <a:ext cx="2011680" cy="27432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444752"/>
            <a:ext cx="4846320" cy="694944"/>
          </a:xfrm>
          <a:prstGeom prst="roundRect">
            <a:avLst/>
          </a:prstGeom>
          <a:solidFill>
            <a:srgbClr val="EEF4FF"/>
          </a:solidFill>
          <a:ln w="15875">
            <a:solidFill>
              <a:srgbClr val="B5C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1545336"/>
            <a:ext cx="4590288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1" i="0">
                <a:solidFill>
                  <a:srgbClr val="003D8A"/>
                </a:solidFill>
                <a:latin typeface="Arial"/>
              </a:rPr>
              <a:t>Core scoring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792224"/>
            <a:ext cx="4590288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Item-level MAE and macro-F1 for PHQ-9/GAD-7 scores vs gold labels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267712"/>
            <a:ext cx="4846320" cy="694944"/>
          </a:xfrm>
          <a:prstGeom prst="roundRect">
            <a:avLst/>
          </a:prstGeom>
          <a:solidFill>
            <a:srgbClr val="EDFAF4"/>
          </a:solidFill>
          <a:ln w="15875">
            <a:solidFill>
              <a:srgbClr val="8DD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368296"/>
            <a:ext cx="4590288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1" i="0">
                <a:solidFill>
                  <a:srgbClr val="0A5E42"/>
                </a:solidFill>
                <a:latin typeface="Arial"/>
              </a:rPr>
              <a:t>Interpretability &amp; 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615184"/>
            <a:ext cx="4590288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Evidence support rate · safety recall and precision for crisis language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090672"/>
            <a:ext cx="4846320" cy="694944"/>
          </a:xfrm>
          <a:prstGeom prst="roundRect">
            <a:avLst/>
          </a:prstGeom>
          <a:solidFill>
            <a:srgbClr val="F5F8FD"/>
          </a:solidFill>
          <a:ln w="15875">
            <a:solidFill>
              <a:srgbClr val="D5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3191256"/>
            <a:ext cx="4590288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1" i="0">
                <a:solidFill>
                  <a:srgbClr val="003D8A"/>
                </a:solidFill>
                <a:latin typeface="Arial"/>
              </a:rPr>
              <a:t>Linguistic equity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3438144"/>
            <a:ext cx="4590288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Coverage completeness and multilingual parity across English / Hindi / Hinglish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913632"/>
            <a:ext cx="4846320" cy="694944"/>
          </a:xfrm>
          <a:prstGeom prst="roundRect">
            <a:avLst/>
          </a:prstGeom>
          <a:solidFill>
            <a:srgbClr val="F5F8FD"/>
          </a:solidFill>
          <a:ln w="15875">
            <a:solidFill>
              <a:srgbClr val="D5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4014216"/>
            <a:ext cx="4590288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1" i="0">
                <a:solidFill>
                  <a:srgbClr val="003D8A"/>
                </a:solidFill>
                <a:latin typeface="Arial"/>
              </a:rPr>
              <a:t>Operational efficiency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4261104"/>
            <a:ext cx="4590288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Disclosure efficiency - turns for unresolved items to reach stable confidence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1444752"/>
            <a:ext cx="228600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 i="0">
                <a:solidFill>
                  <a:srgbClr val="003D8A"/>
                </a:solidFill>
                <a:latin typeface="Arial"/>
              </a:rPr>
              <a:t>BASELINES &amp; ABLATIONS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715000" y="1700784"/>
          <a:ext cx="5532120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030"/>
                <a:gridCol w="1383030"/>
                <a:gridCol w="1383030"/>
                <a:gridCol w="1383030"/>
              </a:tblGrid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Comparison</a:t>
                      </a:r>
                    </a:p>
                  </a:txBody>
                  <a:tcPr>
                    <a:solidFill>
                      <a:srgbClr val="005B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Adaptive</a:t>
                      </a:r>
                    </a:p>
                  </a:txBody>
                  <a:tcPr>
                    <a:solidFill>
                      <a:srgbClr val="005B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Evidence-first</a:t>
                      </a:r>
                    </a:p>
                  </a:txBody>
                  <a:tcPr>
                    <a:solidFill>
                      <a:srgbClr val="005B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Safety</a:t>
                      </a:r>
                    </a:p>
                  </a:txBody>
                  <a:tcPr>
                    <a:solidFill>
                      <a:srgbClr val="005BBB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333333"/>
                          </a:solidFill>
                          <a:latin typeface="Arial"/>
                        </a:rPr>
                        <a:t>Direct questionnaire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333333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333333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333333"/>
                          </a:solidFill>
                          <a:latin typeface="Arial"/>
                        </a:rPr>
                        <a:t>Manual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333333"/>
                          </a:solidFill>
                          <a:latin typeface="Arial"/>
                        </a:rPr>
                        <a:t>Fixed scripted chatbot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333333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333333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333333"/>
                          </a:solidFill>
                          <a:latin typeface="Arial"/>
                        </a:rPr>
                        <a:t>Optional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333333"/>
                          </a:solidFill>
                          <a:latin typeface="Arial"/>
                        </a:rPr>
                        <a:t>Single-pass scoring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333333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333333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333333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333333"/>
                          </a:solidFill>
                          <a:latin typeface="Arial"/>
                        </a:rPr>
                        <a:t>No conf / no safety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333333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333333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333333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080" b="1">
                          <a:solidFill>
                            <a:srgbClr val="003D8A"/>
                          </a:solidFill>
                          <a:latin typeface="Arial"/>
                        </a:rPr>
                        <a:t>ManoVarta (ours)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333333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333333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 b="0">
                          <a:solidFill>
                            <a:srgbClr val="333333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5715000" y="4206240"/>
            <a:ext cx="5532120" cy="13716"/>
          </a:xfrm>
          <a:prstGeom prst="rect">
            <a:avLst/>
          </a:prstGeom>
          <a:solidFill>
            <a:srgbClr val="D5E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4297680"/>
            <a:ext cx="5486400" cy="2926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80" b="0" i="1">
                <a:solidFill>
                  <a:srgbClr val="005BBB"/>
                </a:solidFill>
                <a:latin typeface="Arial"/>
              </a:rPr>
              <a:t>Main question: does the adaptive evidence-first pipeline improve coverage and interpretability without losing score quality?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6032" y="9144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3444"/>
            <a:ext cx="2743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 i="0">
                <a:solidFill>
                  <a:srgbClr val="005BBB"/>
                </a:solidFill>
                <a:latin typeface="Arial"/>
              </a:rPr>
              <a:t>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"/>
            <a:ext cx="237744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University at Buffalo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The State University of New York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0352"/>
            <a:ext cx="12191695" cy="18288"/>
          </a:xfrm>
          <a:prstGeom prst="rect">
            <a:avLst/>
          </a:prstGeom>
          <a:solidFill>
            <a:srgbClr val="B5C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768096"/>
            <a:ext cx="1088136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 i="0">
                <a:solidFill>
                  <a:srgbClr val="003D8A"/>
                </a:solidFill>
                <a:latin typeface="Arial"/>
              </a:rPr>
              <a:t>Risks, Ethics, and Limitations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115568"/>
            <a:ext cx="2011680" cy="27432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00200"/>
            <a:ext cx="5120640" cy="2743200"/>
          </a:xfrm>
          <a:prstGeom prst="roundRect">
            <a:avLst/>
          </a:prstGeom>
          <a:solidFill>
            <a:srgbClr val="FAFBFD"/>
          </a:solidFill>
          <a:ln w="15875">
            <a:solidFill>
              <a:srgbClr val="D5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1709928"/>
            <a:ext cx="18288" cy="2523744"/>
          </a:xfrm>
          <a:prstGeom prst="rect">
            <a:avLst/>
          </a:prstGeom>
          <a:solidFill>
            <a:srgbClr val="D5E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2971800"/>
            <a:ext cx="4901184" cy="18288"/>
          </a:xfrm>
          <a:prstGeom prst="rect">
            <a:avLst/>
          </a:prstGeom>
          <a:solidFill>
            <a:srgbClr val="D5E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0280" y="1399032"/>
            <a:ext cx="182880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950" b="1" i="0">
                <a:solidFill>
                  <a:srgbClr val="666666"/>
                </a:solidFill>
                <a:latin typeface="Arial"/>
              </a:rPr>
              <a:t>Higher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4370832"/>
            <a:ext cx="182880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950" b="1" i="0">
                <a:solidFill>
                  <a:srgbClr val="666666"/>
                </a:solidFill>
                <a:latin typeface="Arial"/>
              </a:rPr>
              <a:t>Lower Impact</a:t>
            </a:r>
          </a:p>
        </p:txBody>
      </p:sp>
      <p:sp>
        <p:nvSpPr>
          <p:cNvPr id="14" name="TextBox 13"/>
          <p:cNvSpPr txBox="1"/>
          <p:nvPr/>
        </p:nvSpPr>
        <p:spPr>
          <a:xfrm rot="16200000">
            <a:off x="329184" y="2761488"/>
            <a:ext cx="548640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950" b="1" i="0">
                <a:solidFill>
                  <a:srgbClr val="666666"/>
                </a:solidFill>
                <a:latin typeface="Arial"/>
              </a:rPr>
              <a:t>High Unc.</a:t>
            </a:r>
          </a:p>
        </p:txBody>
      </p:sp>
      <p:sp>
        <p:nvSpPr>
          <p:cNvPr id="15" name="TextBox 14"/>
          <p:cNvSpPr txBox="1"/>
          <p:nvPr/>
        </p:nvSpPr>
        <p:spPr>
          <a:xfrm rot="5400000">
            <a:off x="5413248" y="2761488"/>
            <a:ext cx="548640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950" b="1" i="0">
                <a:solidFill>
                  <a:srgbClr val="666666"/>
                </a:solidFill>
                <a:latin typeface="Arial"/>
              </a:rPr>
              <a:t>Low Unc.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1874519"/>
            <a:ext cx="1572768" cy="530352"/>
          </a:xfrm>
          <a:prstGeom prst="roundRect">
            <a:avLst/>
          </a:prstGeom>
          <a:solidFill>
            <a:srgbClr val="F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1947671"/>
            <a:ext cx="1481328" cy="32918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 i="0">
                <a:solidFill>
                  <a:srgbClr val="AA0000"/>
                </a:solidFill>
                <a:latin typeface="Arial"/>
              </a:rPr>
              <a:t>Synthetic
Realism Gap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1874519"/>
            <a:ext cx="1572768" cy="530352"/>
          </a:xfrm>
          <a:prstGeom prst="roundRect">
            <a:avLst/>
          </a:prstGeom>
          <a:solidFill>
            <a:srgbClr val="AA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1947671"/>
            <a:ext cx="1481328" cy="32918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 i="0">
                <a:solidFill>
                  <a:srgbClr val="002D7A"/>
                </a:solidFill>
                <a:latin typeface="Arial"/>
              </a:rPr>
              <a:t>Hindi / Code-mix
Nuance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3337560"/>
            <a:ext cx="1572768" cy="530352"/>
          </a:xfrm>
          <a:prstGeom prst="roundRect">
            <a:avLst/>
          </a:prstGeom>
          <a:solidFill>
            <a:srgbClr val="9A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410712"/>
            <a:ext cx="1481328" cy="32918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 i="0">
                <a:solidFill>
                  <a:srgbClr val="0A5E42"/>
                </a:solidFill>
                <a:latin typeface="Arial"/>
              </a:rPr>
              <a:t>Label Mismatch
in Public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3337560"/>
            <a:ext cx="1572768" cy="530352"/>
          </a:xfrm>
          <a:prstGeom prst="roundRect">
            <a:avLst/>
          </a:prstGeom>
          <a:solidFill>
            <a:srgbClr val="B8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3410712"/>
            <a:ext cx="1481328" cy="32918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 i="0">
                <a:solidFill>
                  <a:srgbClr val="1A4A5A"/>
                </a:solidFill>
                <a:latin typeface="Arial"/>
              </a:rPr>
              <a:t>Compute Limits
(32B Model)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1591056"/>
            <a:ext cx="21031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50" b="1" i="0">
                <a:solidFill>
                  <a:srgbClr val="AA0000"/>
                </a:solidFill>
                <a:latin typeface="Arial"/>
              </a:rPr>
              <a:t>ETHICAL GUARDRAILS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1874519"/>
            <a:ext cx="4937760" cy="530352"/>
          </a:xfrm>
          <a:prstGeom prst="roundRect">
            <a:avLst/>
          </a:prstGeom>
          <a:solidFill>
            <a:srgbClr val="FFF4F4"/>
          </a:solidFill>
          <a:ln w="15875">
            <a:solidFill>
              <a:srgbClr val="F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6" y="2039111"/>
            <a:ext cx="4681728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Screening support only - not for therapy or diagnosis.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2542032"/>
            <a:ext cx="4937760" cy="530352"/>
          </a:xfrm>
          <a:prstGeom prst="roundRect">
            <a:avLst/>
          </a:prstGeom>
          <a:solidFill>
            <a:srgbClr val="FFF4F4"/>
          </a:solidFill>
          <a:ln w="15875">
            <a:solidFill>
              <a:srgbClr val="F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1656" y="2706624"/>
            <a:ext cx="4681728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Human review required for all safety-sensitive cases.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3209544"/>
            <a:ext cx="4937760" cy="530352"/>
          </a:xfrm>
          <a:prstGeom prst="roundRect">
            <a:avLst/>
          </a:prstGeom>
          <a:solidFill>
            <a:srgbClr val="FFF4F4"/>
          </a:solidFill>
          <a:ln w="15875">
            <a:solidFill>
              <a:srgbClr val="F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1656" y="3374136"/>
            <a:ext cx="4681728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Deployment requires consent, privacy controls, and IRB.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877056"/>
            <a:ext cx="4937760" cy="530352"/>
          </a:xfrm>
          <a:prstGeom prst="roundRect">
            <a:avLst/>
          </a:prstGeom>
          <a:solidFill>
            <a:srgbClr val="FFF4F4"/>
          </a:solidFill>
          <a:ln w="15875">
            <a:solidFill>
              <a:srgbClr val="F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91656" y="4041648"/>
            <a:ext cx="4681728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Phase 1 claims remain modest due to small synthetic pilot.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6032" y="9144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3444"/>
            <a:ext cx="2743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 i="0">
                <a:solidFill>
                  <a:srgbClr val="005BBB"/>
                </a:solidFill>
                <a:latin typeface="Arial"/>
              </a:rPr>
              <a:t>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"/>
            <a:ext cx="237744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University at Buffalo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The State University of New York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0352"/>
            <a:ext cx="12191695" cy="18288"/>
          </a:xfrm>
          <a:prstGeom prst="rect">
            <a:avLst/>
          </a:prstGeom>
          <a:solidFill>
            <a:srgbClr val="B5C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768096"/>
            <a:ext cx="1088136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 i="0">
                <a:solidFill>
                  <a:srgbClr val="003D8A"/>
                </a:solidFill>
                <a:latin typeface="Arial"/>
              </a:rPr>
              <a:t>Milestones and Team Split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115568"/>
            <a:ext cx="2011680" cy="27432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627632"/>
            <a:ext cx="109728" cy="109728"/>
          </a:xfrm>
          <a:prstGeom prst="ellipse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9224" y="1591056"/>
            <a:ext cx="182880" cy="182880"/>
          </a:xfrm>
          <a:prstGeom prst="ellipse">
            <a:avLst/>
          </a:prstGeom>
          <a:solidFill>
            <a:srgbClr val="EEF4FF"/>
          </a:solidFill>
          <a:ln w="1270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1627632"/>
            <a:ext cx="109728" cy="109728"/>
          </a:xfrm>
          <a:prstGeom prst="ellipse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737360"/>
            <a:ext cx="18288" cy="530352"/>
          </a:xfrm>
          <a:prstGeom prst="rect">
            <a:avLst/>
          </a:prstGeom>
          <a:solidFill>
            <a:srgbClr val="D5E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" y="1572768"/>
            <a:ext cx="4754880" cy="749808"/>
          </a:xfrm>
          <a:prstGeom prst="roundRect">
            <a:avLst/>
          </a:prstGeom>
          <a:solidFill>
            <a:srgbClr val="EEF4FF"/>
          </a:solidFill>
          <a:ln w="15875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1673352"/>
            <a:ext cx="4498848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1" i="0">
                <a:solidFill>
                  <a:srgbClr val="003D8A"/>
                </a:solidFill>
                <a:latin typeface="Arial"/>
              </a:rPr>
              <a:t>Phase 1 - Proposal (now)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920240"/>
            <a:ext cx="4498848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Problem framing · pilot data design · architecture + evaluation plan · this presentation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2542032"/>
            <a:ext cx="109728" cy="109728"/>
          </a:xfrm>
          <a:prstGeom prst="ellipse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651760"/>
            <a:ext cx="18288" cy="530352"/>
          </a:xfrm>
          <a:prstGeom prst="rect">
            <a:avLst/>
          </a:prstGeom>
          <a:solidFill>
            <a:srgbClr val="D5E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6112" y="2487168"/>
            <a:ext cx="4754880" cy="749808"/>
          </a:xfrm>
          <a:prstGeom prst="roundRect">
            <a:avLst/>
          </a:prstGeom>
          <a:solidFill>
            <a:srgbClr val="F5F8FD"/>
          </a:solidFill>
          <a:ln w="15875">
            <a:solidFill>
              <a:srgbClr val="D5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2587752"/>
            <a:ext cx="4498848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1" i="0">
                <a:solidFill>
                  <a:srgbClr val="003D8A"/>
                </a:solidFill>
                <a:latin typeface="Arial"/>
              </a:rPr>
              <a:t>Phase 2 - Prototype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2834640"/>
            <a:ext cx="4498848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Inference pipeline · confidence tracker · safety classifier · first end-to-end runs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3456432"/>
            <a:ext cx="109728" cy="109728"/>
          </a:xfrm>
          <a:prstGeom prst="ellipse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566160"/>
            <a:ext cx="18288" cy="530352"/>
          </a:xfrm>
          <a:prstGeom prst="rect">
            <a:avLst/>
          </a:prstGeom>
          <a:solidFill>
            <a:srgbClr val="D5E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6112" y="3401568"/>
            <a:ext cx="4754880" cy="749808"/>
          </a:xfrm>
          <a:prstGeom prst="roundRect">
            <a:avLst/>
          </a:prstGeom>
          <a:solidFill>
            <a:srgbClr val="F5F8FD"/>
          </a:solidFill>
          <a:ln w="15875">
            <a:solidFill>
              <a:srgbClr val="D5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3502152"/>
            <a:ext cx="4498848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1" i="0">
                <a:solidFill>
                  <a:srgbClr val="003D8A"/>
                </a:solidFill>
                <a:latin typeface="Arial"/>
              </a:rPr>
              <a:t>Phase 3 - Experiments &amp; 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749040"/>
            <a:ext cx="4498848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Baseline comparisons · ablations · error analysis · final report + demo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627632"/>
            <a:ext cx="4846320" cy="1051560"/>
          </a:xfrm>
          <a:prstGeom prst="roundRect">
            <a:avLst/>
          </a:prstGeom>
          <a:solidFill>
            <a:srgbClr val="EEF4FF"/>
          </a:solidFill>
          <a:ln w="15875">
            <a:solidFill>
              <a:srgbClr val="B5C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1728216"/>
            <a:ext cx="4590288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1" i="0">
                <a:solidFill>
                  <a:srgbClr val="003D8A"/>
                </a:solidFill>
                <a:latin typeface="Arial"/>
              </a:rPr>
              <a:t>Ritwij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1975104"/>
            <a:ext cx="4590288" cy="61264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› Inference engine and scoring logic
› Evaluation setup and metrics
› System integration and final write-up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816352"/>
            <a:ext cx="4846320" cy="1051560"/>
          </a:xfrm>
          <a:prstGeom prst="roundRect">
            <a:avLst/>
          </a:prstGeom>
          <a:solidFill>
            <a:srgbClr val="EDFAF4"/>
          </a:solidFill>
          <a:ln w="15875">
            <a:solidFill>
              <a:srgbClr val="8DD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45936" y="2916936"/>
            <a:ext cx="4590288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50" b="1" i="0">
                <a:solidFill>
                  <a:srgbClr val="0A5E42"/>
                </a:solidFill>
                <a:latin typeface="Arial"/>
              </a:rPr>
              <a:t>Yash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5936" y="3163824"/>
            <a:ext cx="4590288" cy="61264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Arial"/>
              </a:rPr>
              <a:t>› Data design and annotation workflow
› Dialogue logic and architecture framing
› Presentation preparation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4169663"/>
            <a:ext cx="480060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1">
                <a:solidFill>
                  <a:srgbClr val="005BBB"/>
                </a:solidFill>
                <a:latin typeface="Arial"/>
              </a:rPr>
              <a:t>Shared: rubric design · consensus annotation · ethics review · demo rehearsal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8" y="4462272"/>
            <a:ext cx="4800600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1">
                <a:solidFill>
                  <a:srgbClr val="005BBB"/>
                </a:solidFill>
                <a:latin typeface="Arial"/>
              </a:rPr>
              <a:t>Immediate next step: finalize annotation rubric and build first pilot batch.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BB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46720" y="0"/>
            <a:ext cx="4206240" cy="6858000"/>
          </a:xfrm>
          <a:prstGeom prst="rect">
            <a:avLst/>
          </a:prstGeom>
          <a:solidFill>
            <a:srgbClr val="003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02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032" y="9144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3444"/>
            <a:ext cx="2743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 i="0">
                <a:solidFill>
                  <a:srgbClr val="005BBB"/>
                </a:solidFill>
                <a:latin typeface="Arial"/>
              </a:rPr>
              <a:t>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"/>
            <a:ext cx="237744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University at Buffalo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The State University of New York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148840"/>
            <a:ext cx="4389120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788920"/>
            <a:ext cx="6583680" cy="43891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Arial"/>
              </a:rPr>
              <a:t>ManoVarta - keeping clinical structure inside a human conversation.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30752" y="3703320"/>
            <a:ext cx="1097280" cy="310896"/>
          </a:xfrm>
          <a:prstGeom prst="roundRect">
            <a:avLst/>
          </a:prstGeom>
          <a:solidFill>
            <a:srgbClr val="003D8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76472" y="3730752"/>
            <a:ext cx="100584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Arial"/>
              </a:rPr>
              <a:t>Ritwij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3703320"/>
            <a:ext cx="1005840" cy="310896"/>
          </a:xfrm>
          <a:prstGeom prst="roundRect">
            <a:avLst/>
          </a:prstGeom>
          <a:solidFill>
            <a:srgbClr val="003D8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3730752"/>
            <a:ext cx="91440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Arial"/>
              </a:rPr>
              <a:t>Yash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7648" y="3703320"/>
            <a:ext cx="2194560" cy="310896"/>
          </a:xfrm>
          <a:prstGeom prst="roundRect">
            <a:avLst/>
          </a:prstGeom>
          <a:solidFill>
            <a:srgbClr val="003D8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3730752"/>
            <a:ext cx="210312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Arial"/>
              </a:rPr>
              <a:t>[Course Name] ·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