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ManoVarta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1EA"/>
                </a:solidFill>
                <a:latin typeface="Aptos"/>
              </a:rPr>
              <a:t>Multilingual conversational mental-health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6E1EA"/>
                </a:solidFill>
                <a:latin typeface="Aptos"/>
              </a:rPr>
              <a:t>Project Phase 3 submission deck</a:t>
            </a:r>
            <a:br/>
            <a:r>
              <a:t>English + Hindi + Hinglish | adaptive screening, hybrid safety, self-hosted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914400"/>
            <a:ext cx="3246120" cy="1645920"/>
          </a:xfrm>
          <a:prstGeom prst="roundRect">
            <a:avLst/>
          </a:prstGeom>
          <a:solidFill>
            <a:srgbClr val="1B3044"/>
          </a:solidFill>
          <a:ln w="15240">
            <a:solidFill>
              <a:srgbClr val="D89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102412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Final live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1312" y="1298448"/>
            <a:ext cx="29169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Coverage 0.783</a:t>
            </a:r>
            <a:br/>
            <a:r>
              <a:t>Exact 0.639</a:t>
            </a:r>
            <a:br/>
            <a:r>
              <a:t>Macro-F1 0.251</a:t>
            </a:r>
            <a:br/>
            <a:r>
              <a:t>Safety P/R 1.0/1.0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8D4"/>
                </a:solidFill>
                <a:latin typeface="Aptos"/>
              </a:rPr>
              <a:t>Ritwij and Yash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Why a conversational screening partner instead of a fixed questionnaire?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81328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55648"/>
            <a:ext cx="3282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Direct PHQ-9/GAD-7 administration is clinically useful, but it can feel like a test. That can produce survey fatigue, guarded answers, and weaker narrative disclosure.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7160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81328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55648"/>
            <a:ext cx="3282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Build a multilingual, voice-capable agent that holds a natural conversation, then infers questionnaire-grounded symptom evidence and confidence-aware next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661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48132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755648"/>
            <a:ext cx="32369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The system must stay safe. Item scoring and crisis detection cannot be treated as the same problem, so the runtime separates extraction from safety escalation.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Primary languages: English and Hindi; Hinglish treated as a real robustness condition.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Outputs: PHQ-9 and GAD-7 item scores, evidence, unresolved items, safety label.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Key evaluation axes: discourse effectiveness, disclosure efficiency, safety accuracy,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The final product is a pipeline, not a single-prompt chatbot.</a:t>
            </a:r>
          </a:p>
        </p:txBody>
      </p:sp>
      <p:pic>
        <p:nvPicPr>
          <p:cNvPr id="4" name="Picture 3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269861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17320"/>
            <a:ext cx="40690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62671" y="1527048"/>
            <a:ext cx="3739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Runtime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1" y="1801368"/>
            <a:ext cx="373989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1. Patient-profile onboarding</a:t>
            </a:r>
            <a:br/>
            <a:r>
              <a:t>2. Dialogue planner chooses next topic</a:t>
            </a:r>
            <a:br/>
            <a:r>
              <a:t>3. Evidence extractor fills candidate items</a:t>
            </a:r>
            <a:br/>
            <a:r>
              <a:t>4. Scorer updates PHQ/GAD state</a:t>
            </a:r>
            <a:br/>
            <a:r>
              <a:t>5. Hybrid safety stack checks review/urgent risk</a:t>
            </a:r>
            <a:br/>
            <a:r>
              <a:t>6. Response generator explains the next question in natural language</a:t>
            </a:r>
            <a:br/>
            <a:r>
              <a:t>7. Optional STT/TTS voice loop keeps the interaction hands-free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Data and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Seed multilingual screening data with item-level supervision.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Processed repo assets include extractor, safety, and follow-up splits.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Primary scoring target is item-level PHQ-9/GAD-7 values in the 0-3 range.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DAIC-WOZ was used only as auxiliary English supervision, not as the main multilingual benchmark.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3657600"/>
          <a:ext cx="521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Dev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Extractor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84 / 140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Follow-up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60" y="1325880"/>
            <a:ext cx="51663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9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435608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Evaluation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709928"/>
            <a:ext cx="483717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Exact match alone was misleading early on because sparse systems could score well by abstaining. We therefore tracked coverage completeness, exact match, macro-F1, safety precision/recall, parse failures, turns to stable score, and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Model path and why Aya was chosen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The extractor decision came from measured behavior, not brand preference.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Coverage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Exact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Macro-F1</a:t>
                      </a:r>
                    </a:p>
                  </a:txBody>
                  <a:tcPr>
                    <a:solidFill>
                      <a:srgbClr val="142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Heuristic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Raw Aya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Qwen 1.5B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Llama 3.1 8B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Aya offline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F38"/>
                          </a:solidFill>
                          <a:latin typeface="Aptos"/>
                        </a:rPr>
                        <a:t>0.272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52360" y="1353312"/>
            <a:ext cx="40690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2" y="1463040"/>
            <a:ext cx="3739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2" y="1737360"/>
            <a:ext cx="37398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Qwen documented an early compact-model path but broke badly on the Hindi probe. Llama 3.1 8B looked stronger on a tiny retrospective slice, but still trailed Aya on macro-F1 and over-escalated safety on benign examples. Aya remained the first strong archived multilingual extractor result, so it became the backbone for extraction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Milestone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The big jump was evidence-first extraction; the hard part was recovering coverage after adding safety.</a:t>
            </a:r>
          </a:p>
        </p:txBody>
      </p:sp>
      <p:pic>
        <p:nvPicPr>
          <p:cNvPr id="4" name="Picture 3" descr="metric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315200" cy="50839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463040"/>
            <a:ext cx="329184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15727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Reading the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847088"/>
            <a:ext cx="296265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The heuristic and raw-prompt stages were clinically thin. Aya created the first real coverage jump. Hybrid safety then solved the risk problem but temporarily reduced coverage. The final passes recovered coverage through language-specific engineering rather than generic retraining.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Strong final operating point for a deployed screening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Coverage 0.783</a:t>
            </a:r>
            <a:br/>
            <a:r>
              <a:t>Exact 0.639</a:t>
            </a:r>
            <a:br/>
            <a:r>
              <a:t>Macro-F1 0.251</a:t>
            </a:r>
            <a:br/>
            <a:r>
              <a:t>Parse failures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371600"/>
            <a:ext cx="27432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48132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755648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Precision 1.0</a:t>
            </a:r>
            <a:br/>
            <a:r>
              <a:t>Recall 1.0</a:t>
            </a:r>
            <a:br/>
            <a:r>
              <a:t>This fixed the earlier false-positive problem without losing recall.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23317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9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481328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755648"/>
            <a:ext cx="2002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Avg turns to stable score</a:t>
            </a:r>
            <a:br/>
            <a:r>
              <a:t>2.292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3317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1481328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1755648"/>
            <a:ext cx="2002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Warm median 32.73 ms</a:t>
            </a:r>
            <a:br/>
            <a:r>
              <a:t>Warm p95 32.89 ms</a:t>
            </a:r>
          </a:p>
        </p:txBody>
      </p:sp>
      <p:pic>
        <p:nvPicPr>
          <p:cNvPr id="16" name="Picture 15" descr="langua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57600"/>
            <a:ext cx="5577840" cy="185045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37960" y="3675887"/>
            <a:ext cx="49377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9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3785615"/>
            <a:ext cx="4608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Language-wise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4059935"/>
            <a:ext cx="4608576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English: 0.844 coverage</a:t>
            </a:r>
            <a:br/>
            <a:r>
              <a:t>Hindi: 0.719 coverage</a:t>
            </a:r>
            <a:br/>
            <a:r>
              <a:t>Hinglish: 0.786 coverage</a:t>
            </a:r>
            <a:br/>
            <a:r>
              <a:t>English became the strongest slice only after the verifier and anxiety disambiguation passes. Hindi remains the next place to improve.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Item-level and safety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The remaining misses are concentrated rather than random.</a:t>
            </a:r>
          </a:p>
        </p:txBody>
      </p:sp>
      <p:pic>
        <p:nvPicPr>
          <p:cNvPr id="4" name="Picture 3" descr="item_cover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040880" cy="21646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417320"/>
            <a:ext cx="36576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82712" y="152704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What the heatmap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2712" y="1801368"/>
            <a:ext cx="33284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The final system is not uniformly strong. Hindi still under-covers a few sparse items, while Hinglish usually finds evidence but can still mis-calibrate severity on some somatic cues. The useful engineering lesson is that broad coverage came from focused repairs, not from another generic full-model retrain.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333"/>
                </a:solidFill>
                <a:latin typeface="Aptos Display"/>
              </a:rPr>
              <a:t>Deployment, voice, and saved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757E"/>
                </a:solidFill>
                <a:latin typeface="Aptos"/>
              </a:rPr>
              <a:t>The final phase delivered a working product, not only offline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Live runtime moved from hosted inference to self-hosted local inference.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Backend speech routes support STT/TTS beyond a pure browser wrapper.</a:t>
            </a:r>
          </a:p>
          <a:p>
            <a:pPr/>
            <a:r>
              <a:rPr sz="1800">
                <a:solidFill>
                  <a:srgbClr val="242F38"/>
                </a:solidFill>
                <a:latin typeface="Aptos"/>
              </a:rPr>
              <a:t>Patient-profile onboarding, hybrid safety, and reviewer routing are integrated in the deployed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325880"/>
            <a:ext cx="507492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19672" y="1435608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Saved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1709928"/>
            <a:ext cx="4745736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Extractor artifacts saved under outputs/local_mps/extractor-qwen25-1_5b-best-compact</a:t>
            </a:r>
            <a:br/>
            <a:r>
              <a:t>Safety inference checkpoint saved under outputs/local_safety_boost/safety-indicbert-best-infer-fp16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520440"/>
            <a:ext cx="50749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9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3630168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33"/>
                </a:solidFill>
                <a:latin typeface="Aptos"/>
              </a:rPr>
              <a:t>Submission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3904488"/>
            <a:ext cx="4745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F38"/>
                </a:solidFill>
                <a:latin typeface="Aptos"/>
              </a:rPr>
              <a:t>The clean submission bundle includes compact relevant weights, current code, the final PDF report, the DOCX report, and this presentation. Heavy historical zips, caches, .DS_Store files, and external DAIC dumps are excluded.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100">
                <a:solidFill>
                  <a:srgbClr val="E2EBF2"/>
                </a:solidFill>
                <a:latin typeface="Aptos"/>
              </a:rPr>
              <a:t>Aya was the right multilingual extractor choice because it was the first strong archived result, not just a good-looking probe.</a:t>
            </a:r>
          </a:p>
          <a:p>
            <a:pPr/>
            <a:r>
              <a:rPr sz="2100">
                <a:solidFill>
                  <a:srgbClr val="E2EBF2"/>
                </a:solidFill>
                <a:latin typeface="Aptos"/>
              </a:rPr>
              <a:t>Hybrid safety changed the optimization target: the best deployed system was not the highest-coverage offline extractor.</a:t>
            </a:r>
          </a:p>
          <a:p>
            <a:pPr/>
            <a:r>
              <a:rPr sz="2100">
                <a:solidFill>
                  <a:srgbClr val="E2EBF2"/>
                </a:solidFill>
                <a:latin typeface="Aptos"/>
              </a:rPr>
              <a:t>The final product is multilingual, voice-capable, self-hosted, and safety-consistent.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D998"/>
                </a:solidFill>
                <a:latin typeface="Aptos"/>
              </a:rPr>
              <a:t>Best final live result: coverage 0.783, exact 0.639, macro-F1 0.251, safety precision/recall 1.0/1.0.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