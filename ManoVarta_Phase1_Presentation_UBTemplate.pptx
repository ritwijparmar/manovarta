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694"/>
  </p:normalViewPr>
  <p:slideViewPr>
    <p:cSldViewPr snapToGrid="0">
      <p:cViewPr varScale="1">
        <p:scale>
          <a:sx n="117" d="100"/>
          <a:sy n="117" d="100"/>
        </p:scale>
        <p:origin x="99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Conversations</c:v>
                </c:pt>
              </c:strCache>
            </c:strRef>
          </c:tx>
          <c:dPt>
            <c:idx val="0"/>
            <c:spPr>
              <a:solidFill>
                <a:srgbClr val="005BBB"/>
              </a:solidFill>
            </c:spPr>
          </c:dPt>
          <c:dPt>
            <c:idx val="1"/>
            <c:spPr>
              <a:solidFill>
                <a:srgbClr val="2F9FD0"/>
              </a:solidFill>
            </c:spPr>
          </c:dPt>
          <c:dPt>
            <c:idx val="2"/>
            <c:spPr>
              <a:solidFill>
                <a:srgbClr val="E56954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Hindi</c:v>
                </c:pt>
                <c:pt idx="2">
                  <c:v>Hinglish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32</c:v>
                </c:pt>
                <c:pt idx="2">
                  <c:v>16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Adaptive follow-up</c:v>
                </c:pt>
              </c:strCache>
            </c:strRef>
          </c:tx>
          <c:spPr>
            <a:ln>
              <a:solidFill>
                <a:srgbClr val="005BBB"/>
              </a:solidFill>
            </a:ln>
          </c:spPr>
          <c:marker>
            <c:symbol val="circle"/>
            <c:size val="7"/>
            <c:spPr>
              <a:solidFill>
                <a:srgbClr val="005BBB"/>
              </a:solidFill>
              <a:ln>
                <a:solidFill>
                  <a:srgbClr val="005BB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Turn 1</c:v>
                </c:pt>
                <c:pt idx="1">
                  <c:v>Turn 2</c:v>
                </c:pt>
                <c:pt idx="2">
                  <c:v>Turn 3</c:v>
                </c:pt>
                <c:pt idx="3">
                  <c:v>Turn 4</c:v>
                </c:pt>
                <c:pt idx="4">
                  <c:v>Turn 5</c:v>
                </c:pt>
                <c:pt idx="5">
                  <c:v>Turn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9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script</c:v>
                </c:pt>
              </c:strCache>
            </c:strRef>
          </c:tx>
          <c:spPr>
            <a:ln>
              <a:solidFill>
                <a:srgbClr val="E56954"/>
              </a:solidFill>
            </a:ln>
          </c:spPr>
          <c:marker>
            <c:symbol val="circle"/>
            <c:size val="7"/>
            <c:spPr>
              <a:solidFill>
                <a:srgbClr val="E56954"/>
              </a:solidFill>
              <a:ln>
                <a:solidFill>
                  <a:srgbClr val="E56954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Turn 1</c:v>
                </c:pt>
                <c:pt idx="1">
                  <c:v>Turn 2</c:v>
                </c:pt>
                <c:pt idx="2">
                  <c:v>Turn 3</c:v>
                </c:pt>
                <c:pt idx="3">
                  <c:v>Turn 4</c:v>
                </c:pt>
                <c:pt idx="4">
                  <c:v>Turn 5</c:v>
                </c:pt>
                <c:pt idx="5">
                  <c:v>Turn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83425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3010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4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07200" y="1371600"/>
            <a:ext cx="53848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10515600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2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6270493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7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8" y="2451872"/>
            <a:ext cx="5029200" cy="405079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878286" y="2451872"/>
            <a:ext cx="5031522" cy="40481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10515600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10515600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831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ManoVarta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  <a:latin typeface="Arial"/>
              </a:rPr>
              <a:t>Multilingual Conversational AI for Mental Health Screening</a:t>
            </a:r>
          </a:p>
          <a:p>
            <a:r>
              <a:rPr sz="1800">
                <a:solidFill>
                  <a:srgbClr val="FFFFFF"/>
                </a:solidFill>
                <a:latin typeface="Arial"/>
              </a:rPr>
              <a:t>Phase 1 proposal | English + Hindi | Ritwij and Yash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direct forms can create survey fatigue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users may give guarded or minimal answers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fixed item order misses natural symptom narratives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conversation can invite more natural disclosure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follow-up can target missing or ambiguous symptoms</a:t>
            </a:r>
          </a:p>
          <a:p>
            <a:pPr/>
            <a:r>
              <a:rPr sz="2300">
                <a:solidFill>
                  <a:srgbClr val="4D4D4D"/>
                </a:solidFill>
                <a:latin typeface="Arial"/>
              </a:rPr>
              <a:t>the challenge is keeping clinical structure intact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2356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002F56"/>
                </a:solidFill>
                <a:latin typeface="Arial"/>
              </a:rPr>
              <a:t>Questionnaires remain important. The research question is whether conversational elicitation can preserve PHQ-9/GAD-7 structure while sounding less rigid.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and Phase 1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1800" b="1">
                <a:solidFill>
                  <a:srgbClr val="005BBB"/>
                </a:solidFill>
                <a:latin typeface="Arial"/>
              </a:rPr>
              <a:t>Known gaps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/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small pilot data in realistic bilingual settings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public labels rarely map cleanly to item-level PHQ-9/GAD-7 scoring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Hindi nuance and code-mixing are often treated as afterthoughts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/>
          </p:nvPr>
        </p:nvSpPr>
        <p:spPr/>
        <p:txBody>
          <a:bodyPr wrap="square">
            <a:normAutofit/>
          </a:bodyPr>
          <a:lstStyle/>
          <a:p>
            <a:r>
              <a:rPr sz="1800" b="1">
                <a:solidFill>
                  <a:srgbClr val="005BBB"/>
                </a:solidFill>
                <a:latin typeface="Arial"/>
              </a:rPr>
              <a:t>Phase 1 questions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/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Can natural dialogue recover item-level symptom scores?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Does confidence-based follow-up improve coverage?</a:t>
            </a:r>
          </a:p>
          <a:p>
            <a:pPr/>
            <a:r>
              <a:rPr sz="2200">
                <a:solidFill>
                  <a:srgbClr val="4D4D4D"/>
                </a:solidFill>
                <a:latin typeface="Arial"/>
              </a:rPr>
              <a:t>How stable is performance across English, Hindi, and Hinglish?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Conversation to Structured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743200" cy="2560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965959"/>
            <a:ext cx="24505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Sample patient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58567"/>
            <a:ext cx="2450592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23-year-old graduate student</a:t>
            </a:r>
            <a:br/>
            <a:r>
              <a:t>English-dominant</a:t>
            </a:r>
            <a:br/>
            <a:r>
              <a:t>moderate sleep disruption</a:t>
            </a:r>
            <a:br/>
            <a:r>
              <a:t>concentration difficulty</a:t>
            </a:r>
            <a:br/>
            <a:r>
              <a:t>no immediate safety flag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828800"/>
            <a:ext cx="374903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029968"/>
            <a:ext cx="33832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2F56"/>
                </a:solidFill>
                <a:latin typeface="Arial"/>
              </a:rPr>
              <a:t>User: "My sleep schedule is messed up and I can't focus on assignments."</a:t>
            </a:r>
          </a:p>
        </p:txBody>
      </p:sp>
      <p:sp>
        <p:nvSpPr>
          <p:cNvPr id="9" name="Chevron 8"/>
          <p:cNvSpPr/>
          <p:nvPr/>
        </p:nvSpPr>
        <p:spPr>
          <a:xfrm>
            <a:off x="7635240" y="2084831"/>
            <a:ext cx="502920" cy="384048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75320" y="1783080"/>
          <a:ext cx="3246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"/>
                <a:gridCol w="1082040"/>
                <a:gridCol w="1082040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 span</a:t>
                      </a:r>
                    </a:p>
                  </a:txBody>
                  <a:tcPr>
                    <a:solidFill>
                      <a:srgbClr val="0065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0065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006570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sleep schedule...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PHQ-9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can't focus...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PHQ-9 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794760" y="3337560"/>
            <a:ext cx="233172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1064" y="3429000"/>
            <a:ext cx="20391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Confidence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4" y="3721608"/>
            <a:ext cx="203911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sleep: high</a:t>
            </a:r>
            <a:br/>
            <a:r>
              <a:t>concentration: medium-high</a:t>
            </a:r>
            <a:br/>
            <a:r>
              <a:t>low mood: unresolved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37560"/>
            <a:ext cx="429768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429000"/>
            <a:ext cx="40050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Next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721608"/>
            <a:ext cx="400507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Ask a targeted follow-up about mood or fatigue instead of repeating the full questionnaire.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37744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01168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User 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4288"/>
            <a:ext cx="208483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English, Hindi, or Hinglish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920240"/>
            <a:ext cx="26517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3864" y="2011680"/>
            <a:ext cx="235915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Rapport-aware dialogue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304288"/>
            <a:ext cx="235915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topic steering</a:t>
            </a:r>
            <a:br/>
            <a:r>
              <a:t>coverage tracking</a:t>
            </a:r>
            <a:br/>
            <a:r>
              <a:t>follow-up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27432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011680"/>
            <a:ext cx="24505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Evidence and scoring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304288"/>
            <a:ext cx="245059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span extraction</a:t>
            </a:r>
            <a:br/>
            <a:r>
              <a:t>item mapping</a:t>
            </a:r>
            <a:br/>
            <a:r>
              <a:t>0-3 scoring +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920240"/>
            <a:ext cx="214884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2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8904" y="2011680"/>
            <a:ext cx="18562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Clinician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18904" y="2304288"/>
            <a:ext cx="185623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item scores</a:t>
            </a:r>
            <a:br/>
            <a:r>
              <a:t>confidence</a:t>
            </a:r>
            <a:br/>
            <a:r>
              <a:t>safety flags</a:t>
            </a:r>
          </a:p>
        </p:txBody>
      </p:sp>
      <p:sp>
        <p:nvSpPr>
          <p:cNvPr id="16" name="Chevron 15"/>
          <p:cNvSpPr/>
          <p:nvPr/>
        </p:nvSpPr>
        <p:spPr>
          <a:xfrm>
            <a:off x="3017520" y="2331720"/>
            <a:ext cx="292608" cy="320040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5989320" y="2331720"/>
            <a:ext cx="292608" cy="320040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9052560" y="2331720"/>
            <a:ext cx="292608" cy="320040"/>
          </a:xfrm>
          <a:prstGeom prst="chevron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886200"/>
            <a:ext cx="393192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4" y="3977640"/>
            <a:ext cx="36393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56954"/>
                </a:solidFill>
                <a:latin typeface="Arial"/>
              </a:rPr>
              <a:t>Parallel safety trigger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4270248"/>
            <a:ext cx="3639312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runs independently of symptom scoring</a:t>
            </a:r>
            <a:br/>
            <a:r>
              <a:t>flags escalation-sensitive language for human review</a:t>
            </a:r>
          </a:p>
        </p:txBody>
      </p:sp>
      <p:sp>
        <p:nvSpPr>
          <p:cNvPr id="22" name="Chevron 21"/>
          <p:cNvSpPr/>
          <p:nvPr/>
        </p:nvSpPr>
        <p:spPr>
          <a:xfrm>
            <a:off x="5212080" y="3291840"/>
            <a:ext cx="274320" cy="320040"/>
          </a:xfrm>
          <a:prstGeom prst="chevron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7315200" y="3291840"/>
            <a:ext cx="274320" cy="320040"/>
          </a:xfrm>
          <a:prstGeom prst="chevron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32120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002F56"/>
                </a:solidFill>
                <a:latin typeface="Arial"/>
              </a:rPr>
              <a:t>Key design choice: safety runs in parallel rather than waiting for the main dialogue model to be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Data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40 synthetic patient profiles expanded into 80 conversations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32 English, 32 Hindi, 16 Hinglish/code-mixed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profile-guided drafting plus manual review for realism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DAIC-WOZ, CLPsych, and eRisk only for auxiliary validation and safety stress tests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" sz="quarter"/>
          </p:nvPr>
        </p:nvGraphicFramePr>
        <p:xfrm>
          <a:off x="5834743" y="1433506"/>
          <a:ext cx="5963049" cy="43204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532120"/>
            <a:ext cx="107899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2F56"/>
                </a:solidFill>
                <a:latin typeface="Arial"/>
              </a:rPr>
              <a:t>Planned pilot composition only; not presented as a completed clinical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Annotation Protocol and Data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1. Profile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age, context, symptom pattern, disclosure style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3864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2. Dialogue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guided generation followed by manual editing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3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3. Double annotation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3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PHQ-9, GAD-7, evidence spans, safety 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399" y="1783080"/>
            <a:ext cx="2377440" cy="1508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3" y="187452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4. Consensus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3" y="2167128"/>
            <a:ext cx="208483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resolve disagreements and freeze gold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972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4241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002F56"/>
                </a:solidFill>
                <a:latin typeface="Courier New"/>
              </a:rPr>
              <a:t>{</a:t>
            </a:r>
          </a:p>
          <a:p>
            <a:r>
              <a:rPr sz="1400" b="0">
                <a:solidFill>
                  <a:srgbClr val="002F56"/>
                </a:solidFill>
                <a:latin typeface="Courier New"/>
              </a:rPr>
              <a:t>  "patient_id": "MB-P001",   "language": "en",   "evidence_spans": ["sleep schedule is messed up"],</a:t>
            </a:r>
          </a:p>
          <a:p>
            <a:r>
              <a:rPr sz="1400" b="0">
                <a:solidFill>
                  <a:srgbClr val="002F56"/>
                </a:solidFill>
                <a:latin typeface="Courier New"/>
              </a:rPr>
              <a:t>  "phq_q3_sleep": 2,   "phq_q7_concentration": 2,   "safety_flag": "none"</a:t>
            </a:r>
          </a:p>
          <a:p>
            <a:r>
              <a:rPr sz="1400" b="0">
                <a:solidFill>
                  <a:srgbClr val="002F56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2F56"/>
                </a:solidFill>
                <a:latin typeface="Arial"/>
              </a:rPr>
              <a:t>Agreement targets: weighted kappa for item labels, span overlap for evidence, and explicit notes on ambiguity or contradiction.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Stack and Compute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Primary dialogue +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Aya Expanse 32B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6743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Open comparison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3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Mistral NeMo 12B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3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Optional second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3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Gemma 3 12B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28800"/>
            <a:ext cx="237744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20240"/>
            <a:ext cx="2084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Safety / retrieval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12848"/>
            <a:ext cx="208483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IndicBERT-style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886200"/>
            <a:ext cx="429768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3977640"/>
            <a:ext cx="400507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Why modular?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270248"/>
            <a:ext cx="4005072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Dialogue, scoring, and safety should be separable so the system is easier to inspect, compare, and debug.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886200"/>
            <a:ext cx="46634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4184" y="3977640"/>
            <a:ext cx="437083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Compute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4270248"/>
            <a:ext cx="4370832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Use smaller baselines for most iteration. Reserve Aya Expanse for targeted evaluation subsets, quantized runs, or hosted inference.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item-level MAE and macro-F1 for PHQ-9/GAD-7 scores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evidence support rate for interpretability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safety recall and precision for crisis-sensitive language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coverage completeness and multilingual parity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disclosure efficiency: how quickly unresolved items become stable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0" sz="quarter"/>
          </p:nvPr>
        </p:nvGraphicFramePr>
        <p:xfrm>
          <a:off x="5834743" y="1433506"/>
          <a:ext cx="5963049" cy="43204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80760" y="5321808"/>
            <a:ext cx="4389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2F56"/>
                </a:solidFill>
                <a:latin typeface="Arial"/>
              </a:rPr>
              <a:t>Illustrative metric behavior only, not experimental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 and Ablations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Adaptive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Evidence-first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Safety-aware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 include it?</a:t>
                      </a:r>
                    </a:p>
                  </a:txBody>
                  <a:tcPr>
                    <a:solidFill>
                      <a:srgbClr val="002F5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Direct questionnaire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Manual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strongest structured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Fixed scripted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conversation without confidence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Single-pass transcript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cheap transcript-only scorer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 confidence / no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D4D4D"/>
                          </a:solidFill>
                          <a:latin typeface="Arial"/>
                        </a:rPr>
                        <a:t>ablation on design choices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75488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2F56"/>
                </a:solidFill>
                <a:latin typeface="Arial"/>
              </a:rPr>
              <a:t>Main question: does the adaptive evidence-first pipeline improve coverage and interpretability without losing score quality?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Ethics,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514600" cy="1554480"/>
          </a:xfrm>
          <a:prstGeom prst="rect">
            <a:avLst/>
          </a:prstGeom>
          <a:solidFill>
            <a:srgbClr val="F5F8FC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54680" y="1828800"/>
            <a:ext cx="2514600" cy="1554480"/>
          </a:xfrm>
          <a:prstGeom prst="rect">
            <a:avLst/>
          </a:prstGeom>
          <a:solidFill>
            <a:srgbClr val="FFF5F2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2514600" cy="1554480"/>
          </a:xfrm>
          <a:prstGeom prst="rect">
            <a:avLst/>
          </a:prstGeom>
          <a:solidFill>
            <a:srgbClr val="EEF7F8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80" y="3383280"/>
            <a:ext cx="251460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46304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2F56"/>
                </a:solidFill>
                <a:latin typeface="Arial"/>
              </a:rPr>
              <a:t>Higher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983480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02F56"/>
                </a:solidFill>
                <a:latin typeface="Arial"/>
              </a:rPr>
              <a:t>Lower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926080"/>
            <a:ext cx="457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002F56"/>
                </a:solidFill>
                <a:latin typeface="Arial"/>
              </a:rPr>
              <a:t>Higher</a:t>
            </a:r>
            <a:br/>
            <a:r>
              <a:t>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926080"/>
            <a:ext cx="457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002F56"/>
                </a:solidFill>
                <a:latin typeface="Arial"/>
              </a:rPr>
              <a:t>Lower</a:t>
            </a:r>
            <a:br/>
            <a:r>
              <a:t>uncertainty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057400"/>
            <a:ext cx="1554480" cy="411480"/>
          </a:xfrm>
          <a:prstGeom prst="roundRect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112264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synthetic realism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148840"/>
            <a:ext cx="1554480" cy="411480"/>
          </a:xfrm>
          <a:prstGeom prst="round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2203704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Hindi/code-mix nuance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1554480" cy="411480"/>
          </a:xfrm>
          <a:prstGeom prst="roundRect">
            <a:avLst/>
          </a:prstGeom>
          <a:solidFill>
            <a:srgbClr val="00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803903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label mismatch in public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794760"/>
            <a:ext cx="1554480" cy="411480"/>
          </a:xfrm>
          <a:prstGeom prst="roundRect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849624"/>
            <a:ext cx="1481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compute limits for 32B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74519"/>
            <a:ext cx="4846320" cy="3063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65959"/>
            <a:ext cx="455371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E56954"/>
                </a:solidFill>
                <a:latin typeface="Arial"/>
              </a:rPr>
              <a:t>Ethical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58567"/>
            <a:ext cx="4553712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Screening support only, not therapy or diagnosis.</a:t>
            </a:r>
            <a:br/>
            <a:r>
              <a:t>Human review required for safety-sensitive cases.</a:t>
            </a:r>
            <a:br/>
            <a:r>
              <a:t>Real-user deployment would require consent, privacy controls, and likely institutional review.</a:t>
            </a:r>
            <a:br/>
            <a:r>
              <a:t>Phase 1 claims must stay modest because the pilot data is small and largely synthetic.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and Team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51760" cy="1463040"/>
          </a:xfrm>
          <a:prstGeom prst="round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2377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377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problem framing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pilot data design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architecture +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828800"/>
            <a:ext cx="2651760" cy="1463040"/>
          </a:xfrm>
          <a:prstGeom prst="roundRect">
            <a:avLst/>
          </a:prstGeom>
          <a:solidFill>
            <a:srgbClr val="2F9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993392"/>
            <a:ext cx="2377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377440"/>
            <a:ext cx="2377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prototype pipeline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confidence tracker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safety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2651760" cy="1463040"/>
          </a:xfrm>
          <a:prstGeom prst="roundRect">
            <a:avLst/>
          </a:prstGeom>
          <a:solidFill>
            <a:srgbClr val="E56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2377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77440"/>
            <a:ext cx="2377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FFFFFF"/>
                </a:solidFill>
                <a:latin typeface="Arial"/>
              </a:rPr>
              <a:t>experiments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ablations</a:t>
            </a:r>
          </a:p>
          <a:p>
            <a:r>
              <a:rPr sz="1300" b="0">
                <a:solidFill>
                  <a:srgbClr val="FFFFFF"/>
                </a:solidFill>
                <a:latin typeface="Arial"/>
              </a:rPr>
              <a:t>final demo + report</a:t>
            </a:r>
          </a:p>
        </p:txBody>
      </p:sp>
      <p:sp>
        <p:nvSpPr>
          <p:cNvPr id="13" name="Chevron 12"/>
          <p:cNvSpPr/>
          <p:nvPr/>
        </p:nvSpPr>
        <p:spPr>
          <a:xfrm>
            <a:off x="3429000" y="2331720"/>
            <a:ext cx="320040" cy="365760"/>
          </a:xfrm>
          <a:prstGeom prst="chevron">
            <a:avLst/>
          </a:prstGeom>
          <a:solidFill>
            <a:srgbClr val="00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6629400" y="2331720"/>
            <a:ext cx="320040" cy="365760"/>
          </a:xfrm>
          <a:prstGeom prst="chevron">
            <a:avLst/>
          </a:prstGeom>
          <a:solidFill>
            <a:srgbClr val="002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4023360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" y="4114800"/>
            <a:ext cx="33649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Ritwij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407408"/>
            <a:ext cx="336499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inference engine</a:t>
            </a:r>
            <a:br/>
            <a:r>
              <a:t>evaluation setup</a:t>
            </a:r>
            <a:br/>
            <a:r>
              <a:t>integration and final write-up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023360"/>
            <a:ext cx="365760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9F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4114800"/>
            <a:ext cx="3364992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002F56"/>
                </a:solidFill>
                <a:latin typeface="Arial"/>
              </a:rPr>
              <a:t>Yash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4407408"/>
            <a:ext cx="336499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Arial"/>
              </a:rPr>
              <a:t>data design</a:t>
            </a:r>
            <a:br/>
            <a:r>
              <a:t>annotation workflow</a:t>
            </a:r>
            <a:br/>
            <a:r>
              <a:t>dialogue logic and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96128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50" b="0">
                <a:solidFill>
                  <a:srgbClr val="002F56"/>
                </a:solidFill>
                <a:latin typeface="Arial"/>
              </a:rPr>
              <a:t>Immediate next step after Phase 1: finalize the annotation rubric and build the first pilot batch of conversations.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Kroenke et al. (2001) - PHQ-9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Spitzer et al. (2006) - GAD-7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Dosovitsky et al. (2021) - chatbot PHQ-9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Abd-Alrazaq et al. (2020) - chatbot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/>
          </p:nvPr>
        </p:nvSpPr>
        <p:spPr/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Burdisso et al. (2024) - DAIC-WOZ caution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Kakwani et al. (2020) - IndicNLPSuite</a:t>
            </a:r>
          </a:p>
          <a:p>
            <a:pPr/>
            <a:r>
              <a:rPr sz="2000">
                <a:solidFill>
                  <a:srgbClr val="4D4D4D"/>
                </a:solidFill>
                <a:latin typeface="Arial"/>
              </a:rPr>
              <a:t>Zirikly et al. (2019) - suicide-risk shared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32120"/>
            <a:ext cx="10332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02F56"/>
                </a:solidFill>
                <a:latin typeface="Arial"/>
              </a:rPr>
              <a:t>Model/tool sources used in the report: Aya Expanse docs, Mistral NeMo docs, Gemma docs, and LangGraph 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1069</Words>
  <Application>Microsoft Macintosh PowerPoint</Application>
  <PresentationFormat>Widescreen</PresentationFormat>
  <Paragraphs>127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Georgia</vt:lpstr>
      <vt:lpstr>System Font Regular</vt:lpstr>
      <vt:lpstr>UB Unit Presentation Template</vt:lpstr>
      <vt:lpstr>Presentation Title</vt:lpstr>
      <vt:lpstr>Divider Slide Title</vt:lpstr>
      <vt:lpstr>Title and 1-Column Content</vt:lpstr>
      <vt:lpstr>Title and 2-Column Content</vt:lpstr>
      <vt:lpstr>Title and 1-Column Bulleted List</vt:lpstr>
      <vt:lpstr>Title and 1-Column Bulleted List (no crest)</vt:lpstr>
      <vt:lpstr>Title and 2-Column Bulleted List</vt:lpstr>
      <vt:lpstr>Title, Sub-title and 1-Column Bulleted List</vt:lpstr>
      <vt:lpstr>Title, Sub-title and 2-Column Bulleted List</vt:lpstr>
      <vt:lpstr>Title, Content and Graph</vt:lpstr>
      <vt:lpstr>Title, Content and Photo</vt:lpstr>
      <vt:lpstr>Title, Content and Photos</vt:lpstr>
      <vt:lpstr>Full-width Photo</vt:lpstr>
      <vt:lpstr>Graphic Elements</vt:lpstr>
      <vt:lpstr>Accessibility Tips</vt:lpstr>
      <vt:lpstr>Accessibility Tips (continued)</vt:lpstr>
      <vt:lpstr>Accessibility Tips (continued again)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Master Brand Presentation Template</dc:title>
  <dc:subject/>
  <dc:creator>University at Buffalo</dc:creator>
  <cp:keywords/>
  <dc:description/>
  <cp:lastModifiedBy>Richard Klingensmith</cp:lastModifiedBy>
  <cp:revision>72</cp:revision>
  <dcterms:created xsi:type="dcterms:W3CDTF">2026-02-26T21:32:20Z</dcterms:created>
  <dcterms:modified xsi:type="dcterms:W3CDTF">2026-03-10T15:21:42Z</dcterms:modified>
  <cp:category/>
</cp:coreProperties>
</file>